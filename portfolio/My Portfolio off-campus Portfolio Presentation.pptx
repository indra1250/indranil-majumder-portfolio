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0" i="0">
                <a:solidFill>
                  <a:srgbClr val="D3D0C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D3D0C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0" i="0">
                <a:solidFill>
                  <a:srgbClr val="D3D0C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D3D0C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320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0361" y="1531534"/>
            <a:ext cx="8196254" cy="21172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0" i="0">
                <a:solidFill>
                  <a:srgbClr val="D3D0C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0" i="0">
                <a:solidFill>
                  <a:srgbClr val="D3D0C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32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6585" y="193551"/>
            <a:ext cx="9213215" cy="1181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0" i="0">
                <a:solidFill>
                  <a:srgbClr val="D3D0C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847" y="1663476"/>
            <a:ext cx="16946245" cy="688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D3D0C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indra1250/indranil-majumder-portfolio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ndra1250/indranil-majumder-portfolio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github.com/indra1250/indranil-majumder-portfolio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ithub.com/indra1250/indranil-majumder-portfolio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dra1250/indranil-majumder-portfolio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ndra1250/indranil-majumder-portfolio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ndra1250/indranil-majumder-portfolio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ndra1250/indranil-majumder-portfolio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hyperlink" Target="https://www.nomadnibs.in/" TargetMode="External"/><Relationship Id="rId8" Type="http://schemas.openxmlformats.org/officeDocument/2006/relationships/hyperlink" Target="https://desiprotein-preview.preview.emergentagent.com/" TargetMode="External"/><Relationship Id="rId9" Type="http://schemas.openxmlformats.org/officeDocument/2006/relationships/hyperlink" Target="https://github.com/indra1250/indranil-majumder-portfolio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hyperlink" Target="https://github.com/indra1250/indranil-majumder-portfolio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hyperlink" Target="https://github.com/indra1250/indranil-majumder-portfolio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hyperlink" Target="https://github.com/indra1250/indranil-majumder-portfolio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hyperlink" Target="https://github.com/indra1250/indranil-majumder-portfolio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hyperlink" Target="https://github.com/indra1250/indranil-majumder-portfolio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hyperlink" Target="https://github.com/indra1250/indranil-majumder-portfolio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hyperlink" Target="https://github.com/indra1250/indranil-majumder-portfolio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hyperlink" Target="https://github.com/indra1250/indranil-majumder-portfolio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hyperlink" Target="mailto:imajumder349@gmail.com" TargetMode="External"/><Relationship Id="rId8" Type="http://schemas.openxmlformats.org/officeDocument/2006/relationships/hyperlink" Target="https://github.com/indra1250/indranil-majumder-portfolio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3" Type="http://schemas.openxmlformats.org/officeDocument/2006/relationships/hyperlink" Target="https://github.com/indra1250/indranil-majumder-portfolio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75117" y="1399692"/>
            <a:ext cx="6019800" cy="71666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4075"/>
              </a:lnSpc>
            </a:pPr>
            <a:r>
              <a:rPr dirty="0" sz="47000" spc="-42610">
                <a:solidFill>
                  <a:srgbClr val="D3D0CB"/>
                </a:solidFill>
                <a:latin typeface="Trebuchet MS"/>
                <a:cs typeface="Trebuchet MS"/>
              </a:rPr>
              <a:t>R</a:t>
            </a:r>
            <a:r>
              <a:rPr dirty="0" sz="50550" spc="-17140">
                <a:solidFill>
                  <a:srgbClr val="D3D0CB"/>
                </a:solidFill>
                <a:latin typeface="Arial MT"/>
                <a:cs typeface="Arial MT"/>
              </a:rPr>
              <a:t>R</a:t>
            </a:r>
            <a:r>
              <a:rPr dirty="0" sz="47000" spc="-42740">
                <a:solidFill>
                  <a:srgbClr val="D3D0CB"/>
                </a:solidFill>
                <a:latin typeface="Trebuchet MS"/>
                <a:cs typeface="Trebuchet MS"/>
              </a:rPr>
              <a:t>T</a:t>
            </a:r>
            <a:r>
              <a:rPr dirty="0" sz="50550" spc="-18555">
                <a:solidFill>
                  <a:srgbClr val="D3D0CB"/>
                </a:solidFill>
                <a:latin typeface="Arial MT"/>
                <a:cs typeface="Arial MT"/>
              </a:rPr>
              <a:t>T</a:t>
            </a:r>
            <a:r>
              <a:rPr dirty="0" sz="47000" spc="-40055">
                <a:solidFill>
                  <a:srgbClr val="D3D0CB"/>
                </a:solidFill>
                <a:latin typeface="Trebuchet MS"/>
                <a:cs typeface="Trebuchet MS"/>
              </a:rPr>
              <a:t>F</a:t>
            </a:r>
            <a:r>
              <a:rPr dirty="0" sz="50550" spc="-15219">
                <a:solidFill>
                  <a:srgbClr val="D3D0CB"/>
                </a:solidFill>
                <a:latin typeface="Arial MT"/>
                <a:cs typeface="Arial MT"/>
              </a:rPr>
              <a:t>F</a:t>
            </a:r>
            <a:endParaRPr sz="505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1066" y="1822771"/>
            <a:ext cx="5648324" cy="846422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357699" y="917571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46415" y="551754"/>
            <a:ext cx="17218660" cy="77285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350" spc="-49845">
                <a:latin typeface="Arial MT"/>
                <a:cs typeface="Arial MT"/>
              </a:rPr>
              <a:t>P</a:t>
            </a:r>
            <a:r>
              <a:rPr dirty="0" sz="47000" spc="-42490"/>
              <a:t>P</a:t>
            </a:r>
            <a:r>
              <a:rPr dirty="0" sz="50550" spc="-18395">
                <a:latin typeface="Arial MT"/>
                <a:cs typeface="Arial MT"/>
              </a:rPr>
              <a:t>P</a:t>
            </a:r>
            <a:r>
              <a:rPr dirty="0" sz="50350" spc="-55845">
                <a:latin typeface="Arial MT"/>
                <a:cs typeface="Arial MT"/>
              </a:rPr>
              <a:t>O</a:t>
            </a:r>
            <a:r>
              <a:rPr dirty="0" sz="47000" spc="-48230"/>
              <a:t>O</a:t>
            </a:r>
            <a:r>
              <a:rPr dirty="0" sz="50550" spc="-16675">
                <a:latin typeface="Arial MT"/>
                <a:cs typeface="Arial MT"/>
              </a:rPr>
              <a:t>O</a:t>
            </a:r>
            <a:r>
              <a:rPr dirty="0" sz="50350" spc="-17690">
                <a:latin typeface="Arial MT"/>
                <a:cs typeface="Arial MT"/>
              </a:rPr>
              <a:t>R</a:t>
            </a:r>
            <a:r>
              <a:rPr dirty="0" sz="50350" spc="-19175">
                <a:latin typeface="Arial MT"/>
                <a:cs typeface="Arial MT"/>
              </a:rPr>
              <a:t>T</a:t>
            </a:r>
            <a:r>
              <a:rPr dirty="0" sz="50350" spc="-18690">
                <a:latin typeface="Arial MT"/>
                <a:cs typeface="Arial MT"/>
              </a:rPr>
              <a:t>F</a:t>
            </a:r>
            <a:r>
              <a:rPr dirty="0" sz="50350" spc="-55829">
                <a:latin typeface="Arial MT"/>
                <a:cs typeface="Arial MT"/>
              </a:rPr>
              <a:t>O</a:t>
            </a:r>
            <a:r>
              <a:rPr dirty="0" sz="47000" spc="-48230"/>
              <a:t>O</a:t>
            </a:r>
            <a:r>
              <a:rPr dirty="0" sz="50550" spc="-16675">
                <a:latin typeface="Arial MT"/>
                <a:cs typeface="Arial MT"/>
              </a:rPr>
              <a:t>O</a:t>
            </a:r>
            <a:r>
              <a:rPr dirty="0" sz="50350" spc="-44620">
                <a:latin typeface="Arial MT"/>
                <a:cs typeface="Arial MT"/>
              </a:rPr>
              <a:t>L</a:t>
            </a:r>
            <a:r>
              <a:rPr dirty="0" sz="47000" spc="-40135"/>
              <a:t>L</a:t>
            </a:r>
            <a:r>
              <a:rPr dirty="0" sz="50550" spc="-18775">
                <a:latin typeface="Arial MT"/>
                <a:cs typeface="Arial MT"/>
              </a:rPr>
              <a:t>L</a:t>
            </a:r>
            <a:r>
              <a:rPr dirty="0" sz="50350" spc="-30400">
                <a:latin typeface="Arial MT"/>
                <a:cs typeface="Arial MT"/>
              </a:rPr>
              <a:t>I</a:t>
            </a:r>
            <a:r>
              <a:rPr dirty="0" sz="50550" spc="-30505">
                <a:latin typeface="Arial MT"/>
                <a:cs typeface="Arial MT"/>
              </a:rPr>
              <a:t>I</a:t>
            </a:r>
            <a:r>
              <a:rPr dirty="0" sz="47000" spc="-16219"/>
              <a:t>I</a:t>
            </a:r>
            <a:r>
              <a:rPr dirty="0" sz="50350" spc="-55829">
                <a:latin typeface="Arial MT"/>
                <a:cs typeface="Arial MT"/>
              </a:rPr>
              <a:t>O</a:t>
            </a:r>
            <a:r>
              <a:rPr dirty="0" sz="47000" spc="-48230"/>
              <a:t>O</a:t>
            </a:r>
            <a:r>
              <a:rPr dirty="0" sz="50550" spc="-16210">
                <a:latin typeface="Arial MT"/>
                <a:cs typeface="Arial MT"/>
              </a:rPr>
              <a:t>O</a:t>
            </a:r>
            <a:endParaRPr sz="50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8836057"/>
            <a:ext cx="3382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0081" y="8843677"/>
            <a:ext cx="6006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31777" y="5585369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4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6" y="56555"/>
                </a:lnTo>
                <a:lnTo>
                  <a:pt x="286237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4" y="245229"/>
                </a:lnTo>
                <a:lnTo>
                  <a:pt x="3397486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31777" y="6674991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7" y="900346"/>
                </a:lnTo>
                <a:lnTo>
                  <a:pt x="245276" y="880614"/>
                </a:lnTo>
                <a:lnTo>
                  <a:pt x="206641" y="857143"/>
                </a:lnTo>
                <a:lnTo>
                  <a:pt x="170568" y="830168"/>
                </a:lnTo>
                <a:lnTo>
                  <a:pt x="137292" y="799925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2" y="691940"/>
                </a:lnTo>
                <a:lnTo>
                  <a:pt x="36871" y="650979"/>
                </a:lnTo>
                <a:lnTo>
                  <a:pt x="21113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6" y="56555"/>
                </a:lnTo>
                <a:lnTo>
                  <a:pt x="286237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4" y="245229"/>
                </a:lnTo>
                <a:lnTo>
                  <a:pt x="3397486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5"/>
                </a:lnTo>
                <a:lnTo>
                  <a:pt x="3148118" y="900347"/>
                </a:lnTo>
                <a:lnTo>
                  <a:pt x="3105067" y="916104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278249" y="7769416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7" y="900346"/>
                </a:lnTo>
                <a:lnTo>
                  <a:pt x="245276" y="880614"/>
                </a:lnTo>
                <a:lnTo>
                  <a:pt x="206641" y="857143"/>
                </a:lnTo>
                <a:lnTo>
                  <a:pt x="170568" y="830168"/>
                </a:lnTo>
                <a:lnTo>
                  <a:pt x="137292" y="799925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2" y="691940"/>
                </a:lnTo>
                <a:lnTo>
                  <a:pt x="36870" y="650979"/>
                </a:lnTo>
                <a:lnTo>
                  <a:pt x="21113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6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4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78249" y="6674991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7" y="900346"/>
                </a:lnTo>
                <a:lnTo>
                  <a:pt x="245276" y="880614"/>
                </a:lnTo>
                <a:lnTo>
                  <a:pt x="206641" y="857143"/>
                </a:lnTo>
                <a:lnTo>
                  <a:pt x="170568" y="830168"/>
                </a:lnTo>
                <a:lnTo>
                  <a:pt x="137292" y="799925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2" y="691940"/>
                </a:lnTo>
                <a:lnTo>
                  <a:pt x="36871" y="650979"/>
                </a:lnTo>
                <a:lnTo>
                  <a:pt x="21113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78249" y="5585369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4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7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8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78249" y="4495746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6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8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21155" y="4495746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6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9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7"/>
                </a:lnTo>
                <a:lnTo>
                  <a:pt x="3263788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8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21155" y="5585369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4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9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9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7"/>
                </a:lnTo>
                <a:lnTo>
                  <a:pt x="3263788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8"/>
                </a:lnTo>
                <a:lnTo>
                  <a:pt x="3297064" y="799924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21155" y="6674991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7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04086" y="7764614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8" y="900346"/>
                </a:lnTo>
                <a:lnTo>
                  <a:pt x="245276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5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7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2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3" y="245229"/>
                </a:lnTo>
                <a:lnTo>
                  <a:pt x="3397485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950827" y="7764614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5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7" y="900346"/>
                </a:lnTo>
                <a:lnTo>
                  <a:pt x="245276" y="880614"/>
                </a:lnTo>
                <a:lnTo>
                  <a:pt x="206641" y="857143"/>
                </a:lnTo>
                <a:lnTo>
                  <a:pt x="170568" y="830168"/>
                </a:lnTo>
                <a:lnTo>
                  <a:pt x="137292" y="799925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2" y="691940"/>
                </a:lnTo>
                <a:lnTo>
                  <a:pt x="36871" y="650979"/>
                </a:lnTo>
                <a:lnTo>
                  <a:pt x="21113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6" y="56555"/>
                </a:lnTo>
                <a:lnTo>
                  <a:pt x="286237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4" y="245229"/>
                </a:lnTo>
                <a:lnTo>
                  <a:pt x="3397486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5"/>
                </a:lnTo>
                <a:lnTo>
                  <a:pt x="3148118" y="900347"/>
                </a:lnTo>
                <a:lnTo>
                  <a:pt x="3105067" y="916104"/>
                </a:lnTo>
                <a:lnTo>
                  <a:pt x="3060160" y="927650"/>
                </a:lnTo>
                <a:lnTo>
                  <a:pt x="3022162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931777" y="4495746"/>
            <a:ext cx="3434715" cy="933450"/>
          </a:xfrm>
          <a:custGeom>
            <a:avLst/>
            <a:gdLst/>
            <a:ahLst/>
            <a:cxnLst/>
            <a:rect l="l" t="t" r="r" b="b"/>
            <a:pathLst>
              <a:path w="3434715" h="933450">
                <a:moveTo>
                  <a:pt x="412196" y="933449"/>
                </a:moveTo>
                <a:lnTo>
                  <a:pt x="374196" y="927650"/>
                </a:lnTo>
                <a:lnTo>
                  <a:pt x="329289" y="916103"/>
                </a:lnTo>
                <a:lnTo>
                  <a:pt x="286237" y="900346"/>
                </a:lnTo>
                <a:lnTo>
                  <a:pt x="245276" y="880614"/>
                </a:lnTo>
                <a:lnTo>
                  <a:pt x="206642" y="857143"/>
                </a:lnTo>
                <a:lnTo>
                  <a:pt x="170568" y="830168"/>
                </a:lnTo>
                <a:lnTo>
                  <a:pt x="137292" y="799924"/>
                </a:lnTo>
                <a:lnTo>
                  <a:pt x="107049" y="766648"/>
                </a:lnTo>
                <a:lnTo>
                  <a:pt x="80074" y="730575"/>
                </a:lnTo>
                <a:lnTo>
                  <a:pt x="56603" y="691940"/>
                </a:lnTo>
                <a:lnTo>
                  <a:pt x="36871" y="650979"/>
                </a:lnTo>
                <a:lnTo>
                  <a:pt x="21114" y="607928"/>
                </a:lnTo>
                <a:lnTo>
                  <a:pt x="9567" y="563021"/>
                </a:lnTo>
                <a:lnTo>
                  <a:pt x="2466" y="516495"/>
                </a:lnTo>
                <a:lnTo>
                  <a:pt x="0" y="468582"/>
                </a:lnTo>
                <a:lnTo>
                  <a:pt x="2466" y="420675"/>
                </a:lnTo>
                <a:lnTo>
                  <a:pt x="9567" y="374148"/>
                </a:lnTo>
                <a:lnTo>
                  <a:pt x="21114" y="329242"/>
                </a:lnTo>
                <a:lnTo>
                  <a:pt x="36871" y="286190"/>
                </a:lnTo>
                <a:lnTo>
                  <a:pt x="56603" y="245229"/>
                </a:lnTo>
                <a:lnTo>
                  <a:pt x="80074" y="206594"/>
                </a:lnTo>
                <a:lnTo>
                  <a:pt x="107049" y="170521"/>
                </a:lnTo>
                <a:lnTo>
                  <a:pt x="137292" y="137245"/>
                </a:lnTo>
                <a:lnTo>
                  <a:pt x="170568" y="107002"/>
                </a:lnTo>
                <a:lnTo>
                  <a:pt x="206642" y="80027"/>
                </a:lnTo>
                <a:lnTo>
                  <a:pt x="245276" y="56555"/>
                </a:lnTo>
                <a:lnTo>
                  <a:pt x="286238" y="36823"/>
                </a:lnTo>
                <a:lnTo>
                  <a:pt x="329289" y="21066"/>
                </a:lnTo>
                <a:lnTo>
                  <a:pt x="374196" y="9520"/>
                </a:lnTo>
                <a:lnTo>
                  <a:pt x="420722" y="2419"/>
                </a:lnTo>
                <a:lnTo>
                  <a:pt x="468632" y="0"/>
                </a:lnTo>
                <a:lnTo>
                  <a:pt x="2965724" y="0"/>
                </a:lnTo>
                <a:lnTo>
                  <a:pt x="3013634" y="2419"/>
                </a:lnTo>
                <a:lnTo>
                  <a:pt x="3060160" y="9519"/>
                </a:lnTo>
                <a:lnTo>
                  <a:pt x="3105067" y="21066"/>
                </a:lnTo>
                <a:lnTo>
                  <a:pt x="3148118" y="36823"/>
                </a:lnTo>
                <a:lnTo>
                  <a:pt x="3189079" y="56555"/>
                </a:lnTo>
                <a:lnTo>
                  <a:pt x="3227714" y="80026"/>
                </a:lnTo>
                <a:lnTo>
                  <a:pt x="3263788" y="107001"/>
                </a:lnTo>
                <a:lnTo>
                  <a:pt x="3297064" y="137245"/>
                </a:lnTo>
                <a:lnTo>
                  <a:pt x="3327307" y="170521"/>
                </a:lnTo>
                <a:lnTo>
                  <a:pt x="3354282" y="206594"/>
                </a:lnTo>
                <a:lnTo>
                  <a:pt x="3377754" y="245229"/>
                </a:lnTo>
                <a:lnTo>
                  <a:pt x="3397486" y="286190"/>
                </a:lnTo>
                <a:lnTo>
                  <a:pt x="3413243" y="329242"/>
                </a:lnTo>
                <a:lnTo>
                  <a:pt x="3424789" y="374148"/>
                </a:lnTo>
                <a:lnTo>
                  <a:pt x="3431890" y="420675"/>
                </a:lnTo>
                <a:lnTo>
                  <a:pt x="3434309" y="468585"/>
                </a:lnTo>
                <a:lnTo>
                  <a:pt x="3431890" y="516495"/>
                </a:lnTo>
                <a:lnTo>
                  <a:pt x="3424789" y="563021"/>
                </a:lnTo>
                <a:lnTo>
                  <a:pt x="3413243" y="607928"/>
                </a:lnTo>
                <a:lnTo>
                  <a:pt x="3397486" y="650979"/>
                </a:lnTo>
                <a:lnTo>
                  <a:pt x="3377754" y="691940"/>
                </a:lnTo>
                <a:lnTo>
                  <a:pt x="3354282" y="730575"/>
                </a:lnTo>
                <a:lnTo>
                  <a:pt x="3327307" y="766649"/>
                </a:lnTo>
                <a:lnTo>
                  <a:pt x="3297064" y="799925"/>
                </a:lnTo>
                <a:lnTo>
                  <a:pt x="3263788" y="830168"/>
                </a:lnTo>
                <a:lnTo>
                  <a:pt x="3227714" y="857143"/>
                </a:lnTo>
                <a:lnTo>
                  <a:pt x="3189079" y="880614"/>
                </a:lnTo>
                <a:lnTo>
                  <a:pt x="3148118" y="900346"/>
                </a:lnTo>
                <a:lnTo>
                  <a:pt x="3105067" y="916103"/>
                </a:lnTo>
                <a:lnTo>
                  <a:pt x="3060160" y="927650"/>
                </a:lnTo>
                <a:lnTo>
                  <a:pt x="3022161" y="933449"/>
                </a:lnTo>
              </a:path>
            </a:pathLst>
          </a:custGeom>
          <a:ln w="76199">
            <a:solidFill>
              <a:srgbClr val="FFFB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08455" y="1913445"/>
            <a:ext cx="9625330" cy="3042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50" spc="-3710">
                <a:solidFill>
                  <a:srgbClr val="D3D0CB"/>
                </a:solidFill>
                <a:latin typeface="Trebuchet MS"/>
                <a:cs typeface="Trebuchet MS"/>
              </a:rPr>
              <a:t>T</a:t>
            </a:r>
            <a:r>
              <a:rPr dirty="0" sz="14050" spc="-3145">
                <a:solidFill>
                  <a:srgbClr val="D3D0CB"/>
                </a:solidFill>
                <a:latin typeface="Trebuchet MS"/>
                <a:cs typeface="Trebuchet MS"/>
              </a:rPr>
              <a:t>ABL</a:t>
            </a:r>
            <a:r>
              <a:rPr dirty="0" sz="14050" spc="-3135">
                <a:solidFill>
                  <a:srgbClr val="D3D0CB"/>
                </a:solidFill>
                <a:latin typeface="Trebuchet MS"/>
                <a:cs typeface="Trebuchet MS"/>
              </a:rPr>
              <a:t>E</a:t>
            </a:r>
            <a:r>
              <a:rPr dirty="0" sz="14050" spc="-2039">
                <a:solidFill>
                  <a:srgbClr val="D3D0CB"/>
                </a:solidFill>
                <a:latin typeface="Trebuchet MS"/>
                <a:cs typeface="Trebuchet MS"/>
              </a:rPr>
              <a:t> </a:t>
            </a:r>
            <a:r>
              <a:rPr dirty="0" sz="14050" spc="-3860">
                <a:solidFill>
                  <a:srgbClr val="D3D0CB"/>
                </a:solidFill>
                <a:latin typeface="Trebuchet MS"/>
                <a:cs typeface="Trebuchet MS"/>
              </a:rPr>
              <a:t>OF</a:t>
            </a:r>
            <a:r>
              <a:rPr dirty="0" sz="14050" spc="-2039">
                <a:solidFill>
                  <a:srgbClr val="D3D0CB"/>
                </a:solidFill>
                <a:latin typeface="Trebuchet MS"/>
                <a:cs typeface="Trebuchet MS"/>
              </a:rPr>
              <a:t> </a:t>
            </a:r>
            <a:r>
              <a:rPr dirty="0" sz="14050" spc="-3475">
                <a:solidFill>
                  <a:srgbClr val="D3D0CB"/>
                </a:solidFill>
                <a:latin typeface="Trebuchet MS"/>
                <a:cs typeface="Trebuchet MS"/>
              </a:rPr>
              <a:t>CONTENTS</a:t>
            </a:r>
            <a:endParaRPr sz="14050">
              <a:latin typeface="Trebuchet MS"/>
              <a:cs typeface="Trebuchet MS"/>
            </a:endParaRPr>
          </a:p>
          <a:p>
            <a:pPr marL="389255">
              <a:lnSpc>
                <a:spcPct val="100000"/>
              </a:lnSpc>
              <a:spcBef>
                <a:spcPts val="434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PROFESSIONAL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5334" y="4981192"/>
            <a:ext cx="13843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SUMMARY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5334" y="5869768"/>
            <a:ext cx="24466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1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SEKILL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5334" y="6954690"/>
            <a:ext cx="14484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PROJECTS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5334" y="7855861"/>
            <a:ext cx="2424430" cy="654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90"/>
              </a:spcBef>
              <a:tabLst>
                <a:tab pos="1934845" algn="l"/>
              </a:tabLst>
            </a:pPr>
            <a:r>
              <a:rPr dirty="0" sz="1750" spc="-10">
                <a:solidFill>
                  <a:srgbClr val="D3D0CB"/>
                </a:solidFill>
                <a:latin typeface="Microsoft Sans Serif"/>
                <a:cs typeface="Microsoft Sans Serif"/>
              </a:rPr>
              <a:t>COMPETITIONS</a:t>
            </a:r>
            <a:r>
              <a:rPr dirty="0" sz="1750">
                <a:solidFill>
                  <a:srgbClr val="D3D0CB"/>
                </a:solidFill>
                <a:latin typeface="Microsoft Sans Serif"/>
                <a:cs typeface="Microsoft Sans Serif"/>
              </a:rPr>
              <a:t>	</a:t>
            </a:r>
            <a:r>
              <a:rPr dirty="0" sz="175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 spc="-10">
                <a:solidFill>
                  <a:srgbClr val="D3D0CB"/>
                </a:solidFill>
                <a:latin typeface="Microsoft Sans Serif"/>
                <a:cs typeface="Microsoft Sans Serif"/>
              </a:rPr>
              <a:t>VOLUNTEERING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32074" y="8049093"/>
            <a:ext cx="15767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THANK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YOU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397264" y="4775445"/>
            <a:ext cx="15767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EDUCATION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94639" y="5865067"/>
            <a:ext cx="181863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INTERNSHIPS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97264" y="6717496"/>
            <a:ext cx="2169160" cy="76835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INCUBATION</a:t>
            </a:r>
            <a:r>
              <a:rPr dirty="0" sz="2100" spc="-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(RI)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69248" y="8049093"/>
            <a:ext cx="12947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CONTACT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23475" y="4795476"/>
            <a:ext cx="11664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RESUME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23475" y="5865067"/>
            <a:ext cx="20656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CERIFICATIONS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89813" y="6949946"/>
            <a:ext cx="4552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SIP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0254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Microsoft Sans Serif"/>
                <a:cs typeface="Microsoft Sans Serif"/>
              </a:rPr>
              <a:t>Portfolio</a:t>
            </a:r>
            <a:r>
              <a:rPr dirty="0" sz="2500" spc="-55">
                <a:latin typeface="Microsoft Sans Serif"/>
                <a:cs typeface="Microsoft Sans Serif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Content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55185" y="1681917"/>
            <a:ext cx="12318365" cy="21717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50" spc="-3020"/>
              <a:t>PROFESSIONAL</a:t>
            </a:r>
            <a:r>
              <a:rPr dirty="0" sz="14050" spc="-2060"/>
              <a:t> </a:t>
            </a:r>
            <a:r>
              <a:rPr dirty="0" sz="14050" spc="-3120"/>
              <a:t>SUMMARY</a:t>
            </a:r>
            <a:endParaRPr sz="14050"/>
          </a:p>
        </p:txBody>
      </p:sp>
      <p:sp>
        <p:nvSpPr>
          <p:cNvPr id="4" name="object 4"/>
          <p:cNvSpPr txBox="1"/>
          <p:nvPr/>
        </p:nvSpPr>
        <p:spPr>
          <a:xfrm>
            <a:off x="2023261" y="4021752"/>
            <a:ext cx="14241780" cy="39611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7400"/>
              </a:lnSpc>
              <a:spcBef>
                <a:spcPts val="95"/>
              </a:spcBef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Aspiring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build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career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analytics-led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techno-commercial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roles.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aim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combine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data-driven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decision-making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solve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problems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create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measurable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impact.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possess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strong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analytical,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quantitative,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capabilities,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supported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proficiency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SQL,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Python,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Power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BI,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Tableau,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Excel,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Databricks.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My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includes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research,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B2B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key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account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endParaRPr sz="2000">
              <a:latin typeface="Microsoft Sans Serif"/>
              <a:cs typeface="Microsoft Sans Serif"/>
            </a:endParaRPr>
          </a:p>
          <a:p>
            <a:pPr algn="ctr" marL="13970" marR="7620">
              <a:lnSpc>
                <a:spcPct val="117400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management.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am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skilled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translating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complex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20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insights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identifying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opportunities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customer,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sales,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funnels.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Currently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pursuing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PGDM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JAGSoM,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have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gained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practical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exposure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sales,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analytics.</a:t>
            </a:r>
            <a:r>
              <a:rPr dirty="0" sz="20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Unschool,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analysed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lead-conversion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funnels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D3D0CB"/>
                </a:solidFill>
                <a:latin typeface="Microsoft Sans Serif"/>
                <a:cs typeface="Microsoft Sans Serif"/>
              </a:rPr>
              <a:t>to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support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growth.</a:t>
            </a:r>
            <a:r>
              <a:rPr dirty="0" sz="20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Yellow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Submarine,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contributed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strategy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development.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4th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Axis,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used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insights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support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recommendations.</a:t>
            </a:r>
            <a:r>
              <a:rPr dirty="0" sz="20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Through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certifications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guided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projects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analytics,</a:t>
            </a:r>
            <a:r>
              <a:rPr dirty="0" sz="20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Agile/Scrum,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SEO,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CRM,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cloud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computing,</a:t>
            </a:r>
            <a:r>
              <a:rPr dirty="0" sz="20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Azure,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Databricks,</a:t>
            </a:r>
            <a:r>
              <a:rPr dirty="0" sz="20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project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am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prepared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contribute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intersection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analytics,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technology,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0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8648777"/>
            <a:ext cx="3382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39014" y="8558586"/>
            <a:ext cx="6006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57699" y="6011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5"/>
                </a:moveTo>
                <a:lnTo>
                  <a:pt x="1774486" y="219075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5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587" y="1249357"/>
            <a:ext cx="1104678" cy="1721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290" y="5191462"/>
            <a:ext cx="87905" cy="879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290" y="6048537"/>
            <a:ext cx="87905" cy="87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290" y="6905611"/>
            <a:ext cx="87905" cy="879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4887" y="944296"/>
            <a:ext cx="16765269" cy="7025005"/>
          </a:xfrm>
          <a:prstGeom prst="rect">
            <a:avLst/>
          </a:prstGeom>
        </p:spPr>
        <p:txBody>
          <a:bodyPr wrap="square" lIns="0" tIns="378460" rIns="0" bIns="0" rtlCol="0" vert="horz">
            <a:spAutoFit/>
          </a:bodyPr>
          <a:lstStyle/>
          <a:p>
            <a:pPr marL="789305" marR="12792075">
              <a:lnSpc>
                <a:spcPct val="71700"/>
              </a:lnSpc>
              <a:spcBef>
                <a:spcPts val="2980"/>
              </a:spcBef>
            </a:pPr>
            <a:r>
              <a:rPr dirty="0" sz="8450" spc="-1670">
                <a:solidFill>
                  <a:srgbClr val="D3D0CB"/>
                </a:solidFill>
                <a:latin typeface="Trebuchet MS"/>
                <a:cs typeface="Trebuchet MS"/>
              </a:rPr>
              <a:t>INDRANIL </a:t>
            </a:r>
            <a:r>
              <a:rPr dirty="0" sz="8450" spc="-2050">
                <a:solidFill>
                  <a:srgbClr val="D3D0CB"/>
                </a:solidFill>
                <a:latin typeface="Trebuchet MS"/>
                <a:cs typeface="Trebuchet MS"/>
              </a:rPr>
              <a:t>MAJUMDER</a:t>
            </a:r>
            <a:endParaRPr sz="8450">
              <a:latin typeface="Trebuchet MS"/>
              <a:cs typeface="Trebuchet MS"/>
            </a:endParaRPr>
          </a:p>
          <a:p>
            <a:pPr marL="12700" marR="419734">
              <a:lnSpc>
                <a:spcPct val="117200"/>
              </a:lnSpc>
              <a:spcBef>
                <a:spcPts val="560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final-year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PGDM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student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JAGSoM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(Batch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2025–</a:t>
            </a:r>
            <a:r>
              <a:rPr dirty="0" sz="2400" spc="70">
                <a:solidFill>
                  <a:srgbClr val="D3D0CB"/>
                </a:solidFill>
                <a:latin typeface="Microsoft Sans Serif"/>
                <a:cs typeface="Microsoft Sans Serif"/>
              </a:rPr>
              <a:t>27),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building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career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intersection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analytics-</a:t>
            </a:r>
            <a:r>
              <a:rPr dirty="0" sz="2400" spc="-25">
                <a:solidFill>
                  <a:srgbClr val="D3D0CB"/>
                </a:solidFill>
                <a:latin typeface="Microsoft Sans Serif"/>
                <a:cs typeface="Microsoft Sans Serif"/>
              </a:rPr>
              <a:t>led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techno-commercial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roles.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He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combines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data-driven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decision-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making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backed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hands-on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proficiency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SQL,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Python,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Power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BI,</a:t>
            </a:r>
            <a:r>
              <a:rPr dirty="0" sz="24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Tableau,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Excel,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Databricks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translate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complex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insight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customer,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sales,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funnels.</a:t>
            </a:r>
            <a:endParaRPr sz="2400">
              <a:latin typeface="Microsoft Sans Serif"/>
              <a:cs typeface="Microsoft Sans Serif"/>
            </a:endParaRPr>
          </a:p>
          <a:p>
            <a:pPr marL="535305" marR="865505">
              <a:lnSpc>
                <a:spcPts val="3370"/>
              </a:lnSpc>
              <a:spcBef>
                <a:spcPts val="200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Education: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PGDM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JAGSoM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65">
                <a:solidFill>
                  <a:srgbClr val="D3D0CB"/>
                </a:solidFill>
                <a:latin typeface="Microsoft Sans Serif"/>
                <a:cs typeface="Microsoft Sans Serif"/>
              </a:rPr>
              <a:t>(2025–27)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BA,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West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Bengal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State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University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(70.70%,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2023)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D3D0CB"/>
                </a:solidFill>
                <a:latin typeface="Microsoft Sans Serif"/>
                <a:cs typeface="Microsoft Sans Serif"/>
              </a:rPr>
              <a:t>XII,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WBCHSE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(90%,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2020)</a:t>
            </a:r>
            <a:endParaRPr sz="2400">
              <a:latin typeface="Microsoft Sans Serif"/>
              <a:cs typeface="Microsoft Sans Serif"/>
            </a:endParaRPr>
          </a:p>
          <a:p>
            <a:pPr marL="535305" marR="545465">
              <a:lnSpc>
                <a:spcPts val="3370"/>
              </a:lnSpc>
              <a:spcBef>
                <a:spcPts val="10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Core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focus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areas: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research,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B2B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key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account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strategy,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endParaRPr sz="2400">
              <a:latin typeface="Microsoft Sans Serif"/>
              <a:cs typeface="Microsoft Sans Serif"/>
            </a:endParaRPr>
          </a:p>
          <a:p>
            <a:pPr marL="535305" marR="5080">
              <a:lnSpc>
                <a:spcPts val="3370"/>
              </a:lnSpc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Internship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experience: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Unschool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(Sales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6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mo)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lead-conversion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funnel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D3D0CB"/>
                </a:solidFill>
                <a:latin typeface="Microsoft Sans Serif"/>
                <a:cs typeface="Microsoft Sans Serif"/>
              </a:rPr>
              <a:t>Yellow</a:t>
            </a:r>
            <a:r>
              <a:rPr dirty="0" sz="24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Submarine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(Social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4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mo)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strategy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4th</a:t>
            </a:r>
            <a:r>
              <a:rPr dirty="0" sz="24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Axis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(Social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24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Analyst,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1</a:t>
            </a:r>
            <a:r>
              <a:rPr dirty="0" sz="24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mo)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performance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24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8836057"/>
            <a:ext cx="3382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MAJUMEDR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02212" y="8888422"/>
            <a:ext cx="6006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4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4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04887" y="214001"/>
            <a:ext cx="1405890" cy="7899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0" spc="-1125"/>
              <a:t>RESUME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36" y="3175224"/>
            <a:ext cx="88239" cy="88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36" y="4895901"/>
            <a:ext cx="88239" cy="88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36" y="5756240"/>
            <a:ext cx="88239" cy="882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336" y="6616579"/>
            <a:ext cx="88239" cy="88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36" y="7046748"/>
            <a:ext cx="88239" cy="88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336" y="8337255"/>
            <a:ext cx="88239" cy="882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4887" y="1635975"/>
            <a:ext cx="17106265" cy="7338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0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Beyond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coursework,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has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applied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his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marketing-analytics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skill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set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live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academic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ventures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building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brands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ground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up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running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full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empirical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study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export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competitiveness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while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building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broad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functional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toolkit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through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certifications</a:t>
            </a:r>
            <a:r>
              <a:rPr dirty="0" sz="2400" spc="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guided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projects.</a:t>
            </a:r>
            <a:endParaRPr sz="2400">
              <a:latin typeface="Microsoft Sans Serif"/>
              <a:cs typeface="Microsoft Sans Serif"/>
            </a:endParaRPr>
          </a:p>
          <a:p>
            <a:pPr marL="537210">
              <a:lnSpc>
                <a:spcPct val="100000"/>
              </a:lnSpc>
              <a:spcBef>
                <a:spcPts val="509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Academic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applied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projects: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Nomad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Nibs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(digital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e-commerce,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5-member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LinkedIn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presence</a:t>
            </a:r>
            <a:endParaRPr sz="2400">
              <a:latin typeface="Microsoft Sans Serif"/>
              <a:cs typeface="Microsoft Sans Serif"/>
            </a:endParaRPr>
          </a:p>
          <a:p>
            <a:pPr marL="537210" marR="113030">
              <a:lnSpc>
                <a:spcPct val="117600"/>
              </a:lnSpc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+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site)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Desi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Protein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(brand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conceptualized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Desi-flavor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protein</a:t>
            </a:r>
            <a:r>
              <a:rPr dirty="0" sz="24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4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D3D0CB"/>
                </a:solidFill>
                <a:latin typeface="Microsoft Sans Serif"/>
                <a:cs typeface="Microsoft Sans Serif"/>
              </a:rPr>
              <a:t>with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dedicated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site)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Incubation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R&amp;D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Intensity,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Transformation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Export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Competitiveness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(8,808+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CMIE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Prowess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firm-year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observations,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regression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modelling,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built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Intensity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Index)</a:t>
            </a:r>
            <a:endParaRPr sz="2400">
              <a:latin typeface="Microsoft Sans Serif"/>
              <a:cs typeface="Microsoft Sans Serif"/>
            </a:endParaRPr>
          </a:p>
          <a:p>
            <a:pPr marL="537210" marR="476884">
              <a:lnSpc>
                <a:spcPct val="117600"/>
              </a:lnSpc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Guided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projects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(Coursera):</a:t>
            </a:r>
            <a:r>
              <a:rPr dirty="0" sz="2400" spc="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4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400" spc="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Process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400" spc="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ClickUp,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Marketing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Design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Easil,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CRM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HubSpot,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24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Tracker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(Google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Sheets),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Squarespace</a:t>
            </a:r>
            <a:endParaRPr sz="2400">
              <a:latin typeface="Microsoft Sans Serif"/>
              <a:cs typeface="Microsoft Sans Serif"/>
            </a:endParaRPr>
          </a:p>
          <a:p>
            <a:pPr marL="537210" marR="802640">
              <a:lnSpc>
                <a:spcPct val="117600"/>
              </a:lnSpc>
            </a:pP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skills: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Python</a:t>
            </a:r>
            <a:r>
              <a:rPr dirty="0" sz="24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(basic),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SQL,</a:t>
            </a:r>
            <a:r>
              <a:rPr dirty="0" sz="24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HTML/CSS,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Power</a:t>
            </a:r>
            <a:r>
              <a:rPr dirty="0" sz="24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BI,</a:t>
            </a:r>
            <a:r>
              <a:rPr dirty="0" sz="24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Tableau,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Excel,</a:t>
            </a:r>
            <a:r>
              <a:rPr dirty="0" sz="24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Databricks,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ETL</a:t>
            </a:r>
            <a:r>
              <a:rPr dirty="0" sz="24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pipeline</a:t>
            </a:r>
            <a:r>
              <a:rPr dirty="0" sz="240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development,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Cloud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Microsoft</a:t>
            </a:r>
            <a:r>
              <a:rPr dirty="0" sz="24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Azure,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MySQL/PostgreSQL</a:t>
            </a:r>
            <a:endParaRPr sz="2400">
              <a:latin typeface="Microsoft Sans Serif"/>
              <a:cs typeface="Microsoft Sans Serif"/>
            </a:endParaRPr>
          </a:p>
          <a:p>
            <a:pPr marL="537210">
              <a:lnSpc>
                <a:spcPct val="100000"/>
              </a:lnSpc>
              <a:spcBef>
                <a:spcPts val="509"/>
              </a:spcBef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4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growth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tools: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(SEMrush,</a:t>
            </a:r>
            <a:r>
              <a:rPr dirty="0" sz="24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HubSpot),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Meta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Suite,</a:t>
            </a:r>
            <a:r>
              <a:rPr dirty="0" sz="24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Git/GitHub,</a:t>
            </a:r>
            <a:r>
              <a:rPr dirty="0" sz="24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Agile/Scrum</a:t>
            </a:r>
            <a:endParaRPr sz="2400">
              <a:latin typeface="Microsoft Sans Serif"/>
              <a:cs typeface="Microsoft Sans Serif"/>
            </a:endParaRPr>
          </a:p>
          <a:p>
            <a:pPr algn="just" marL="537210" marR="581660">
              <a:lnSpc>
                <a:spcPct val="117600"/>
              </a:lnSpc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Key</a:t>
            </a:r>
            <a:r>
              <a:rPr dirty="0" sz="24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certifications: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Science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24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(PW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Skills),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Python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1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2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(Cisco),</a:t>
            </a:r>
            <a:r>
              <a:rPr dirty="0" sz="24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Agile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Scrum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(Simplilearn),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D3D0CB"/>
                </a:solidFill>
                <a:latin typeface="Microsoft Sans Serif"/>
                <a:cs typeface="Microsoft Sans Serif"/>
              </a:rPr>
              <a:t>Data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(Cisco),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Cloud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Azure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(IBM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SkillsBuild,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Simplilearn),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CRM</a:t>
            </a:r>
            <a:r>
              <a:rPr dirty="0" sz="24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Systems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(OnePageCRM,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Simplilearn),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(HubSpot,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SEMrush),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SQL (Simplilearn),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Databricks</a:t>
            </a:r>
            <a:r>
              <a:rPr dirty="0" sz="24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(Simplilearn)</a:t>
            </a:r>
            <a:endParaRPr sz="2400">
              <a:latin typeface="Microsoft Sans Serif"/>
              <a:cs typeface="Microsoft Sans Serif"/>
            </a:endParaRPr>
          </a:p>
          <a:p>
            <a:pPr algn="just" marL="537210" marR="76200">
              <a:lnSpc>
                <a:spcPct val="117600"/>
              </a:lnSpc>
            </a:pP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Leadership</a:t>
            </a:r>
            <a:r>
              <a:rPr dirty="0" sz="24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involvement: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Member,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PR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Committee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(JAGSoM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Student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Council)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|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24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Writer,</a:t>
            </a:r>
            <a:r>
              <a:rPr dirty="0" sz="24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PRARAMBH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(JAGSoM's</a:t>
            </a:r>
            <a:r>
              <a:rPr dirty="0" sz="24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D3D0CB"/>
                </a:solidFill>
                <a:latin typeface="Microsoft Sans Serif"/>
                <a:cs typeface="Microsoft Sans Serif"/>
              </a:rPr>
              <a:t>Magazine</a:t>
            </a:r>
            <a:r>
              <a:rPr dirty="0" sz="24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D3D0CB"/>
                </a:solidFill>
                <a:latin typeface="Microsoft Sans Serif"/>
                <a:cs typeface="Microsoft Sans Serif"/>
              </a:rPr>
              <a:t>Team)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763" y="9392663"/>
            <a:ext cx="3454400" cy="387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20"/>
              </a:lnSpc>
            </a:pPr>
            <a:r>
              <a:rPr dirty="0" sz="255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5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5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MAJUMEDR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64233" y="9438776"/>
            <a:ext cx="6134100" cy="300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45"/>
              </a:lnSpc>
            </a:pPr>
            <a:r>
              <a:rPr dirty="0" sz="1950" spc="-20">
                <a:solidFill>
                  <a:srgbClr val="D3D0CB"/>
                </a:solidFill>
                <a:latin typeface="Microsoft Sans Serif"/>
                <a:cs typeface="Microsoft Sans Serif"/>
                <a:hlinkClick r:id="rId5"/>
              </a:rPr>
              <a:t>https://github.com/indra1250/indranil-</a:t>
            </a:r>
            <a:r>
              <a:rPr dirty="0" sz="1950" spc="-25">
                <a:solidFill>
                  <a:srgbClr val="D3D0CB"/>
                </a:solidFill>
                <a:latin typeface="Microsoft Sans Serif"/>
                <a:cs typeface="Microsoft Sans Serif"/>
                <a:hlinkClick r:id="rId5"/>
              </a:rPr>
              <a:t>majumder-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  <a:hlinkClick r:id="rId5"/>
              </a:rPr>
              <a:t>portfolio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04887" y="214001"/>
            <a:ext cx="1405890" cy="7899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0" spc="-1125"/>
              <a:t>RESUME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9139" y="1437739"/>
            <a:ext cx="5382895" cy="21717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50" spc="-3370"/>
              <a:t>EDUC</a:t>
            </a:r>
            <a:r>
              <a:rPr dirty="0" sz="14050" spc="-3860"/>
              <a:t>A</a:t>
            </a:r>
            <a:r>
              <a:rPr dirty="0" sz="14050" spc="-3370"/>
              <a:t>TIO</a:t>
            </a:r>
            <a:r>
              <a:rPr dirty="0" sz="14050" spc="-3360"/>
              <a:t>N</a:t>
            </a:r>
            <a:endParaRPr sz="14050"/>
          </a:p>
        </p:txBody>
      </p:sp>
      <p:sp>
        <p:nvSpPr>
          <p:cNvPr id="3" name="object 3"/>
          <p:cNvSpPr txBox="1"/>
          <p:nvPr/>
        </p:nvSpPr>
        <p:spPr>
          <a:xfrm>
            <a:off x="7133662" y="4051318"/>
            <a:ext cx="2567940" cy="125857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20" b="1">
                <a:solidFill>
                  <a:srgbClr val="D3D0CB"/>
                </a:solidFill>
                <a:latin typeface="Arial"/>
                <a:cs typeface="Arial"/>
              </a:rPr>
              <a:t>2023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4100"/>
              </a:lnSpc>
              <a:spcBef>
                <a:spcPts val="130"/>
              </a:spcBef>
            </a:pP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West</a:t>
            </a:r>
            <a:r>
              <a:rPr dirty="0" sz="2300" spc="-6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Bengal</a:t>
            </a:r>
            <a:r>
              <a:rPr dirty="0" sz="2300" spc="-6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D3D0CB"/>
                </a:solidFill>
                <a:latin typeface="Arial"/>
                <a:cs typeface="Arial"/>
              </a:rPr>
              <a:t>State </a:t>
            </a:r>
            <a:r>
              <a:rPr dirty="0" sz="2300" spc="-10" b="1">
                <a:solidFill>
                  <a:srgbClr val="D3D0CB"/>
                </a:solidFill>
                <a:latin typeface="Arial"/>
                <a:cs typeface="Arial"/>
              </a:rPr>
              <a:t>University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9588" y="4022053"/>
            <a:ext cx="3481070" cy="91757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300" spc="-20" b="1">
                <a:solidFill>
                  <a:srgbClr val="D3D0CB"/>
                </a:solidFill>
                <a:latin typeface="Arial"/>
                <a:cs typeface="Arial"/>
              </a:rPr>
              <a:t>2020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Habra</a:t>
            </a:r>
            <a:r>
              <a:rPr dirty="0" sz="2300" spc="-4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High</a:t>
            </a:r>
            <a:r>
              <a:rPr dirty="0" sz="2300" spc="-4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School</a:t>
            </a:r>
            <a:r>
              <a:rPr dirty="0" sz="2300" spc="-4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3D0CB"/>
                </a:solidFill>
                <a:latin typeface="Arial"/>
                <a:cs typeface="Arial"/>
              </a:rPr>
              <a:t>(H.S.)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209" y="4051318"/>
            <a:ext cx="3997960" cy="37084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20" b="1">
                <a:solidFill>
                  <a:srgbClr val="D3D0CB"/>
                </a:solidFill>
                <a:latin typeface="Arial"/>
                <a:cs typeface="Arial"/>
              </a:rPr>
              <a:t>2027</a:t>
            </a:r>
            <a:endParaRPr sz="2300">
              <a:latin typeface="Arial"/>
              <a:cs typeface="Arial"/>
            </a:endParaRPr>
          </a:p>
          <a:p>
            <a:pPr marL="12700" marR="927100">
              <a:lnSpc>
                <a:spcPct val="114100"/>
              </a:lnSpc>
              <a:spcBef>
                <a:spcPts val="130"/>
              </a:spcBef>
            </a:pP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Jagdish</a:t>
            </a:r>
            <a:r>
              <a:rPr dirty="0" sz="2300" spc="-4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Sheth</a:t>
            </a:r>
            <a:r>
              <a:rPr dirty="0" sz="2300" spc="-4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3D0CB"/>
                </a:solidFill>
                <a:latin typeface="Arial"/>
                <a:cs typeface="Arial"/>
              </a:rPr>
              <a:t>School </a:t>
            </a:r>
            <a:r>
              <a:rPr dirty="0" sz="2300" b="1">
                <a:solidFill>
                  <a:srgbClr val="D3D0CB"/>
                </a:solidFill>
                <a:latin typeface="Arial"/>
                <a:cs typeface="Arial"/>
              </a:rPr>
              <a:t>of</a:t>
            </a:r>
            <a:r>
              <a:rPr dirty="0" sz="2300" spc="-10" b="1">
                <a:solidFill>
                  <a:srgbClr val="D3D0CB"/>
                </a:solidFill>
                <a:latin typeface="Arial"/>
                <a:cs typeface="Arial"/>
              </a:rPr>
              <a:t> Management (JAGSoM)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1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Pursuing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PGDM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at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JAGSoM,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Bengaluru,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building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analytics-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led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brand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decision-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making.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3662" y="5760036"/>
            <a:ext cx="3993515" cy="2625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Completed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Bachelor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Arts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(General)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70.70%,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with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coursework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spanning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fine/studio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arts,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history,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political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science,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English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literature,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alongside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active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involvement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drama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club and football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team.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58116" y="5814739"/>
            <a:ext cx="3998595" cy="188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Completed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Higher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Secondary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Education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(Science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-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PCM)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under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WBCHSE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90%,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building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2700" marR="15240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foundation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carried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into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later academic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work.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7763" y="9392663"/>
            <a:ext cx="3454400" cy="387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20"/>
              </a:lnSpc>
            </a:pPr>
            <a:r>
              <a:rPr dirty="0" sz="255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5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5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MAJUMEDR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4233" y="9438776"/>
            <a:ext cx="6134100" cy="300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45"/>
              </a:lnSpc>
            </a:pPr>
            <a:r>
              <a:rPr dirty="0" sz="1950" spc="-2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https://github.com/indra1250/indranil-</a:t>
            </a:r>
            <a:r>
              <a:rPr dirty="0" sz="1950" spc="-25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majumder-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portfolio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981106"/>
            <a:ext cx="30784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Creative</a:t>
            </a:r>
            <a:r>
              <a:rPr dirty="0" sz="25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Presentation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72730" y="1267421"/>
            <a:ext cx="11252200" cy="25685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 marL="2690495">
              <a:lnSpc>
                <a:spcPts val="16745"/>
              </a:lnSpc>
              <a:spcBef>
                <a:spcPts val="130"/>
              </a:spcBef>
            </a:pPr>
            <a:r>
              <a:rPr dirty="0" sz="14050" spc="-3155"/>
              <a:t>PERSONAL</a:t>
            </a:r>
            <a:r>
              <a:rPr dirty="0" sz="14050" spc="-2065"/>
              <a:t> </a:t>
            </a:r>
            <a:r>
              <a:rPr dirty="0" sz="14050" spc="-2355"/>
              <a:t>SKILLS</a:t>
            </a:r>
            <a:endParaRPr sz="14050"/>
          </a:p>
          <a:p>
            <a:pPr marL="12700">
              <a:lnSpc>
                <a:spcPts val="3245"/>
              </a:lnSpc>
            </a:pPr>
            <a:r>
              <a:rPr dirty="0" sz="2800" b="1">
                <a:latin typeface="Arial"/>
                <a:cs typeface="Arial"/>
              </a:rPr>
              <a:t>·Programming</a:t>
            </a:r>
            <a:r>
              <a:rPr dirty="0" sz="2800" spc="-9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&amp;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Data</a:t>
            </a:r>
            <a:r>
              <a:rPr dirty="0" sz="2800" spc="-1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Analysis: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Python</a:t>
            </a:r>
            <a:r>
              <a:rPr dirty="0" sz="2800" spc="-5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(basic),</a:t>
            </a:r>
            <a:r>
              <a:rPr dirty="0" sz="2800" spc="-5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SQL,</a:t>
            </a:r>
            <a:r>
              <a:rPr dirty="0" sz="2800" spc="-5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HTML,</a:t>
            </a:r>
            <a:r>
              <a:rPr dirty="0" sz="2800" spc="-55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CSS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2730" y="4374347"/>
            <a:ext cx="13074015" cy="391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·Analytics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&amp;</a:t>
            </a:r>
            <a:r>
              <a:rPr dirty="0" sz="2800" spc="-8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BI</a:t>
            </a:r>
            <a:r>
              <a:rPr dirty="0" sz="2800" spc="-8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D3D0CB"/>
                </a:solidFill>
                <a:latin typeface="Arial"/>
                <a:cs typeface="Arial"/>
              </a:rPr>
              <a:t>Tools:</a:t>
            </a:r>
            <a:r>
              <a:rPr dirty="0" sz="2800" spc="-8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Power</a:t>
            </a:r>
            <a:r>
              <a:rPr dirty="0" sz="28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BI,</a:t>
            </a:r>
            <a:r>
              <a:rPr dirty="0" sz="28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35">
                <a:solidFill>
                  <a:srgbClr val="D3D0CB"/>
                </a:solidFill>
                <a:latin typeface="Microsoft Sans Serif"/>
                <a:cs typeface="Microsoft Sans Serif"/>
              </a:rPr>
              <a:t>Tableau,</a:t>
            </a:r>
            <a:r>
              <a:rPr dirty="0" sz="28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MS</a:t>
            </a:r>
            <a:r>
              <a:rPr dirty="0" sz="28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Excel,</a:t>
            </a:r>
            <a:r>
              <a:rPr dirty="0" sz="28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Databricks,</a:t>
            </a:r>
            <a:r>
              <a:rPr dirty="0" sz="28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Databricks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·Data</a:t>
            </a:r>
            <a:r>
              <a:rPr dirty="0" sz="2800" spc="-17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Engineering:</a:t>
            </a:r>
            <a:r>
              <a:rPr dirty="0" sz="2800" spc="-12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ETL</a:t>
            </a:r>
            <a:r>
              <a:rPr dirty="0" sz="2800" spc="-1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Pipeline</a:t>
            </a:r>
            <a:r>
              <a:rPr dirty="0" sz="2800" spc="-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Development,</a:t>
            </a:r>
            <a:r>
              <a:rPr dirty="0" sz="2800" spc="-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Cloud</a:t>
            </a:r>
            <a:r>
              <a:rPr dirty="0" sz="2800" spc="-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Computing,</a:t>
            </a:r>
            <a:r>
              <a:rPr dirty="0" sz="2800" spc="-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Microsoft</a:t>
            </a:r>
            <a:r>
              <a:rPr dirty="0" sz="2800" spc="-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Azure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·Marketing</a:t>
            </a:r>
            <a:r>
              <a:rPr dirty="0" sz="2800" spc="-9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&amp;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Growth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D3D0CB"/>
                </a:solidFill>
                <a:latin typeface="Arial"/>
                <a:cs typeface="Arial"/>
              </a:rPr>
              <a:t>Tools: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8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(SEMrush,</a:t>
            </a:r>
            <a:r>
              <a:rPr dirty="0" sz="28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HubSpot),</a:t>
            </a:r>
            <a:r>
              <a:rPr dirty="0" sz="28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Meta</a:t>
            </a:r>
            <a:r>
              <a:rPr dirty="0" sz="28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8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Suite,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3893185">
              <a:lnSpc>
                <a:spcPct val="116100"/>
              </a:lnSpc>
            </a:pP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·Project</a:t>
            </a:r>
            <a:r>
              <a:rPr dirty="0" sz="2800" spc="-12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&amp;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3D0CB"/>
                </a:solidFill>
                <a:latin typeface="Arial"/>
                <a:cs typeface="Arial"/>
              </a:rPr>
              <a:t>Collaboration</a:t>
            </a:r>
            <a:r>
              <a:rPr dirty="0" sz="2800" spc="-9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D3D0CB"/>
                </a:solidFill>
                <a:latin typeface="Arial"/>
                <a:cs typeface="Arial"/>
              </a:rPr>
              <a:t>Tools:</a:t>
            </a:r>
            <a:r>
              <a:rPr dirty="0" sz="2800" spc="-8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Git,</a:t>
            </a:r>
            <a:r>
              <a:rPr dirty="0" sz="28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GitHub,</a:t>
            </a:r>
            <a:r>
              <a:rPr dirty="0" sz="2800" spc="-1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Agile/Scrum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Databases:</a:t>
            </a:r>
            <a:r>
              <a:rPr dirty="0" sz="2800" spc="-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D3D0CB"/>
                </a:solidFill>
                <a:latin typeface="Microsoft Sans Serif"/>
                <a:cs typeface="Microsoft Sans Serif"/>
              </a:rPr>
              <a:t>MySQL</a:t>
            </a:r>
            <a:r>
              <a:rPr dirty="0" sz="2800" spc="-1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Server,</a:t>
            </a:r>
            <a:r>
              <a:rPr dirty="0" sz="2800" spc="-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D3D0CB"/>
                </a:solidFill>
                <a:latin typeface="Microsoft Sans Serif"/>
                <a:cs typeface="Microsoft Sans Serif"/>
              </a:rPr>
              <a:t>PostgreSQL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7763" y="9392663"/>
            <a:ext cx="3454400" cy="387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20"/>
              </a:lnSpc>
            </a:pPr>
            <a:r>
              <a:rPr dirty="0" sz="255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5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5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MAJUMEDR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4233" y="9438776"/>
            <a:ext cx="6134100" cy="300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45"/>
              </a:lnSpc>
            </a:pPr>
            <a:r>
              <a:rPr dirty="0" sz="1950" spc="-2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https://github.com/indra1250/indranil-</a:t>
            </a:r>
            <a:r>
              <a:rPr dirty="0" sz="1950" spc="-25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majumder-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portfolio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850" y="1267421"/>
            <a:ext cx="7715884" cy="2171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50" spc="-2935">
                <a:solidFill>
                  <a:srgbClr val="D3D0CB"/>
                </a:solidFill>
                <a:latin typeface="Trebuchet MS"/>
                <a:cs typeface="Trebuchet MS"/>
              </a:rPr>
              <a:t>CERTIFIC</a:t>
            </a:r>
            <a:r>
              <a:rPr dirty="0" sz="14050" spc="-3425">
                <a:solidFill>
                  <a:srgbClr val="D3D0CB"/>
                </a:solidFill>
                <a:latin typeface="Trebuchet MS"/>
                <a:cs typeface="Trebuchet MS"/>
              </a:rPr>
              <a:t>A</a:t>
            </a:r>
            <a:r>
              <a:rPr dirty="0" sz="14050" spc="-2935">
                <a:solidFill>
                  <a:srgbClr val="D3D0CB"/>
                </a:solidFill>
                <a:latin typeface="Trebuchet MS"/>
                <a:cs typeface="Trebuchet MS"/>
              </a:rPr>
              <a:t>TION</a:t>
            </a:r>
            <a:r>
              <a:rPr dirty="0" sz="14050" spc="-2925">
                <a:solidFill>
                  <a:srgbClr val="D3D0CB"/>
                </a:solidFill>
                <a:latin typeface="Trebuchet MS"/>
                <a:cs typeface="Trebuchet MS"/>
              </a:rPr>
              <a:t>S</a:t>
            </a:r>
            <a:endParaRPr sz="140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81106"/>
            <a:ext cx="307848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Microsoft Sans Serif"/>
                <a:cs typeface="Microsoft Sans Serif"/>
              </a:rPr>
              <a:t>Creative</a:t>
            </a:r>
            <a:r>
              <a:rPr dirty="0" sz="2500" spc="-30">
                <a:latin typeface="Microsoft Sans Serif"/>
                <a:cs typeface="Microsoft Sans Serif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Presentation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286054"/>
            <a:ext cx="9937115" cy="55975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5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Science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PW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Skills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Python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Essentials 1 and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Essentials 2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Cisco</a:t>
            </a:r>
            <a:endParaRPr sz="2100">
              <a:latin typeface="Microsoft Sans Serif"/>
              <a:cs typeface="Microsoft Sans Serif"/>
            </a:endParaRPr>
          </a:p>
          <a:p>
            <a:pPr marL="313690" indent="-300990">
              <a:lnSpc>
                <a:spcPct val="100000"/>
              </a:lnSpc>
              <a:spcBef>
                <a:spcPts val="405"/>
              </a:spcBef>
              <a:buChar char="•"/>
              <a:tabLst>
                <a:tab pos="313690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Agile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Scrum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Certification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-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Cisco</a:t>
            </a:r>
            <a:endParaRPr sz="2100">
              <a:latin typeface="Microsoft Sans Serif"/>
              <a:cs typeface="Microsoft Sans Serif"/>
            </a:endParaRPr>
          </a:p>
          <a:p>
            <a:pPr marL="313690" indent="-300990">
              <a:lnSpc>
                <a:spcPct val="100000"/>
              </a:lnSpc>
              <a:spcBef>
                <a:spcPts val="405"/>
              </a:spcBef>
              <a:buChar char="•"/>
              <a:tabLst>
                <a:tab pos="313690" algn="l"/>
              </a:tabLst>
            </a:pP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ADFAP</a:t>
            </a:r>
            <a:r>
              <a:rPr dirty="0" sz="21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60">
                <a:solidFill>
                  <a:srgbClr val="D3D0CB"/>
                </a:solidFill>
                <a:latin typeface="Microsoft Sans Serif"/>
                <a:cs typeface="Microsoft Sans Serif"/>
              </a:rPr>
              <a:t>Tally</a:t>
            </a:r>
            <a:r>
              <a:rPr dirty="0" sz="2100" spc="-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Academy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General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English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(Speaking,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Writing,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Listening)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British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Council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Certified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HubSpot</a:t>
            </a:r>
            <a:r>
              <a:rPr dirty="0" sz="2100" spc="-1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Academy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SQL</a:t>
            </a:r>
            <a:r>
              <a:rPr dirty="0" sz="21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Facebook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Advertising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(Meta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Suite)</a:t>
            </a:r>
            <a:r>
              <a:rPr dirty="0" sz="21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Content-led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SEMrush</a:t>
            </a:r>
            <a:r>
              <a:rPr dirty="0" sz="21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Academy</a:t>
            </a:r>
            <a:endParaRPr sz="2100">
              <a:latin typeface="Microsoft Sans Serif"/>
              <a:cs typeface="Microsoft Sans Serif"/>
            </a:endParaRPr>
          </a:p>
          <a:p>
            <a:pPr marL="313690" indent="-300990">
              <a:lnSpc>
                <a:spcPct val="100000"/>
              </a:lnSpc>
              <a:spcBef>
                <a:spcPts val="405"/>
              </a:spcBef>
              <a:buChar char="•"/>
              <a:tabLst>
                <a:tab pos="313690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SEO</a:t>
            </a:r>
            <a:r>
              <a:rPr dirty="0" sz="21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Tool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SEMrush</a:t>
            </a:r>
            <a:r>
              <a:rPr dirty="0" sz="2100" spc="-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Academy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Cloud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100" spc="-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Azure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IBM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SkillBuild,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CRM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System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OnePageCRM,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Project Management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Coursera(Google)</a:t>
            </a:r>
            <a:endParaRPr sz="2100">
              <a:latin typeface="Microsoft Sans Serif"/>
              <a:cs typeface="Microsoft Sans Serif"/>
            </a:endParaRPr>
          </a:p>
          <a:p>
            <a:pPr marL="328295" indent="-315595">
              <a:lnSpc>
                <a:spcPct val="100000"/>
              </a:lnSpc>
              <a:spcBef>
                <a:spcPts val="405"/>
              </a:spcBef>
              <a:buChar char="•"/>
              <a:tabLst>
                <a:tab pos="328295" algn="l"/>
              </a:tabLst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Databricks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21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Simplilearn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7763" y="9392663"/>
            <a:ext cx="3454400" cy="387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20"/>
              </a:lnSpc>
            </a:pPr>
            <a:r>
              <a:rPr dirty="0" sz="255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5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5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MAJUMEDR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4233" y="9438776"/>
            <a:ext cx="6134100" cy="300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45"/>
              </a:lnSpc>
            </a:pPr>
            <a:r>
              <a:rPr dirty="0" sz="1950" spc="-2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https://github.com/indra1250/indranil-</a:t>
            </a:r>
            <a:r>
              <a:rPr dirty="0" sz="1950" spc="-25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majumder-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portfolio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241" y="1202092"/>
            <a:ext cx="4686299" cy="33146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2570" y="1202092"/>
            <a:ext cx="4686299" cy="3314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0858" y="1202092"/>
            <a:ext cx="4695824" cy="3324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6835" y="5689156"/>
            <a:ext cx="4686299" cy="3209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02570" y="5689156"/>
            <a:ext cx="4686299" cy="3171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98306" y="5689156"/>
            <a:ext cx="4686299" cy="3171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8039" y="4631464"/>
            <a:ext cx="4663708" cy="8654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1768" y="9091315"/>
            <a:ext cx="4663708" cy="8654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10368" y="9052303"/>
            <a:ext cx="4663708" cy="8654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288656" y="9052303"/>
            <a:ext cx="4663708" cy="8654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13775" y="4631464"/>
            <a:ext cx="4663708" cy="8654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312377" y="4675568"/>
            <a:ext cx="4663708" cy="865491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15509" y="188298"/>
            <a:ext cx="6734809" cy="7886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1155"/>
              <a:t>SOME</a:t>
            </a:r>
            <a:r>
              <a:rPr dirty="0" sz="5000" spc="-735"/>
              <a:t> </a:t>
            </a:r>
            <a:r>
              <a:rPr dirty="0" sz="5000" spc="-1380"/>
              <a:t>OF</a:t>
            </a:r>
            <a:r>
              <a:rPr dirty="0" sz="5000" spc="-735"/>
              <a:t> </a:t>
            </a:r>
            <a:r>
              <a:rPr dirty="0" sz="5000" spc="-1290"/>
              <a:t>THE</a:t>
            </a:r>
            <a:r>
              <a:rPr dirty="0" sz="5000" spc="-735"/>
              <a:t> </a:t>
            </a:r>
            <a:r>
              <a:rPr dirty="0" sz="5000" spc="-1165"/>
              <a:t>IMPORTANT</a:t>
            </a:r>
            <a:r>
              <a:rPr dirty="0" sz="5000" spc="-735"/>
              <a:t> </a:t>
            </a:r>
            <a:r>
              <a:rPr dirty="0" sz="5000" spc="-1065"/>
              <a:t>CERTIFICATES</a:t>
            </a:r>
            <a:endParaRPr sz="5000"/>
          </a:p>
        </p:txBody>
      </p:sp>
      <p:sp>
        <p:nvSpPr>
          <p:cNvPr id="15" name="object 15"/>
          <p:cNvSpPr txBox="1"/>
          <p:nvPr/>
        </p:nvSpPr>
        <p:spPr>
          <a:xfrm>
            <a:off x="1507639" y="4694764"/>
            <a:ext cx="4277995" cy="9220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7600"/>
              </a:lnSpc>
              <a:spcBef>
                <a:spcPts val="95"/>
              </a:spcBef>
            </a:pPr>
            <a:r>
              <a:rPr dirty="0" sz="1250" b="1">
                <a:latin typeface="Arial"/>
                <a:cs typeface="Arial"/>
              </a:rPr>
              <a:t>Azure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Fundamentals — Simplilearn | </a:t>
            </a:r>
            <a:r>
              <a:rPr dirty="0" sz="1250" spc="-10" b="1">
                <a:latin typeface="Arial"/>
                <a:cs typeface="Arial"/>
              </a:rPr>
              <a:t>Microsoft </a:t>
            </a:r>
            <a:r>
              <a:rPr dirty="0" sz="1250" b="1">
                <a:latin typeface="Arial"/>
                <a:cs typeface="Arial"/>
              </a:rPr>
              <a:t>Successfully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completed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an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online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course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covering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spc="-20" b="1">
                <a:latin typeface="Arial"/>
                <a:cs typeface="Arial"/>
              </a:rPr>
              <a:t>core </a:t>
            </a:r>
            <a:r>
              <a:rPr dirty="0" sz="1250" b="1">
                <a:latin typeface="Arial"/>
                <a:cs typeface="Arial"/>
              </a:rPr>
              <a:t>Azure</a:t>
            </a:r>
            <a:r>
              <a:rPr dirty="0" sz="1250" spc="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cloud</a:t>
            </a:r>
            <a:r>
              <a:rPr dirty="0" sz="1250" spc="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concepts</a:t>
            </a:r>
            <a:r>
              <a:rPr dirty="0" sz="1250" spc="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and</a:t>
            </a:r>
            <a:r>
              <a:rPr dirty="0" sz="1250" spc="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foundational</a:t>
            </a:r>
            <a:r>
              <a:rPr dirty="0" sz="1250" spc="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Microsoft</a:t>
            </a:r>
            <a:r>
              <a:rPr dirty="0" sz="1250" spc="-4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Azure services.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4412" y="9205968"/>
            <a:ext cx="431609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Sales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CRM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Expert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Certification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—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OnePage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CRM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Sales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Academy </a:t>
            </a:r>
            <a:r>
              <a:rPr dirty="0" sz="1100" b="1">
                <a:latin typeface="Arial"/>
                <a:cs typeface="Arial"/>
              </a:rPr>
              <a:t>Certified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Next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Action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sales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method,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action-</a:t>
            </a:r>
            <a:r>
              <a:rPr dirty="0" sz="1100" b="1">
                <a:latin typeface="Arial"/>
                <a:cs typeface="Arial"/>
              </a:rPr>
              <a:t>focused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sales </a:t>
            </a:r>
            <a:r>
              <a:rPr dirty="0" sz="1100" b="1">
                <a:latin typeface="Arial"/>
                <a:cs typeface="Arial"/>
              </a:rPr>
              <a:t>CRM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usage,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sales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process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development.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8121" y="9177044"/>
            <a:ext cx="4149090" cy="522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20700"/>
              </a:lnSpc>
              <a:spcBef>
                <a:spcPts val="90"/>
              </a:spcBef>
            </a:pP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Essentials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1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2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—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Cisco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Networking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Academy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Institute </a:t>
            </a:r>
            <a:r>
              <a:rPr dirty="0" sz="900" b="1">
                <a:latin typeface="Arial"/>
                <a:cs typeface="Arial"/>
              </a:rPr>
              <a:t>Certified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core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programming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fundamentals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through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advanced </a:t>
            </a:r>
            <a:r>
              <a:rPr dirty="0" sz="900" b="1">
                <a:latin typeface="Arial"/>
                <a:cs typeface="Arial"/>
              </a:rPr>
              <a:t>concepts,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via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Cisco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Networking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Academy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86409" y="9177044"/>
            <a:ext cx="4149090" cy="522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20700"/>
              </a:lnSpc>
              <a:spcBef>
                <a:spcPts val="90"/>
              </a:spcBef>
            </a:pP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Essentials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1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2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—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Cisco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Networking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Academy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Institute </a:t>
            </a:r>
            <a:r>
              <a:rPr dirty="0" sz="900" b="1">
                <a:latin typeface="Arial"/>
                <a:cs typeface="Arial"/>
              </a:rPr>
              <a:t>Certified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core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Python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programming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fundamentals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through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advanced </a:t>
            </a:r>
            <a:r>
              <a:rPr dirty="0" sz="900" b="1">
                <a:latin typeface="Arial"/>
                <a:cs typeface="Arial"/>
              </a:rPr>
              <a:t>concepts,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via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Cisco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Networking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Academy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71710" y="4810848"/>
            <a:ext cx="41484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Get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Started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with Databricks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for Data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Engineering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— Databricks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| </a:t>
            </a:r>
            <a:r>
              <a:rPr dirty="0" sz="900" spc="-10" b="1">
                <a:latin typeface="Arial"/>
                <a:cs typeface="Arial"/>
              </a:rPr>
              <a:t>Simplilearn </a:t>
            </a:r>
            <a:r>
              <a:rPr dirty="0" sz="900" b="1">
                <a:latin typeface="Arial"/>
                <a:cs typeface="Arial"/>
              </a:rPr>
              <a:t>Completed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foundational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training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Databricks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for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data</a:t>
            </a:r>
            <a:r>
              <a:rPr dirty="0" sz="900" spc="-10" b="1">
                <a:latin typeface="Arial"/>
                <a:cs typeface="Arial"/>
              </a:rPr>
              <a:t> engineering, </a:t>
            </a:r>
            <a:r>
              <a:rPr dirty="0" sz="900" b="1">
                <a:latin typeface="Arial"/>
                <a:cs typeface="Arial"/>
              </a:rPr>
              <a:t>covering core concepts and practical data engineering </a:t>
            </a:r>
            <a:r>
              <a:rPr dirty="0" sz="900" spc="-10" b="1">
                <a:latin typeface="Arial"/>
                <a:cs typeface="Arial"/>
              </a:rPr>
              <a:t>workflows.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64439" y="4788443"/>
            <a:ext cx="4027804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47370">
              <a:lnSpc>
                <a:spcPct val="113599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Introduction</a:t>
            </a:r>
            <a:r>
              <a:rPr dirty="0" sz="1100" b="1">
                <a:latin typeface="Arial"/>
                <a:cs typeface="Arial"/>
              </a:rPr>
              <a:t> to SQL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— </a:t>
            </a:r>
            <a:r>
              <a:rPr dirty="0" sz="1100" spc="-10" b="1">
                <a:latin typeface="Arial"/>
                <a:cs typeface="Arial"/>
              </a:rPr>
              <a:t>Simplilearn</a:t>
            </a:r>
            <a:r>
              <a:rPr dirty="0" sz="1100" b="1">
                <a:latin typeface="Arial"/>
                <a:cs typeface="Arial"/>
              </a:rPr>
              <a:t> | </a:t>
            </a:r>
            <a:r>
              <a:rPr dirty="0" sz="1100" spc="-10" b="1">
                <a:latin typeface="Arial"/>
                <a:cs typeface="Arial"/>
              </a:rPr>
              <a:t>SkillUp Completed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foundational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training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SQL,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developing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skills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180"/>
              </a:spcBef>
            </a:pPr>
            <a:r>
              <a:rPr dirty="0" sz="1100" spc="-10" b="1">
                <a:latin typeface="Arial"/>
                <a:cs typeface="Arial"/>
              </a:rPr>
              <a:t>database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concepts, querying,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10" b="1">
                <a:latin typeface="Arial"/>
                <a:cs typeface="Arial"/>
              </a:rPr>
              <a:t> manipulation.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357699" y="519147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05" y="1562550"/>
            <a:ext cx="8334374" cy="64388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3789" y="1562550"/>
            <a:ext cx="8334374" cy="6438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5509" y="188298"/>
            <a:ext cx="6734809" cy="7886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1155"/>
              <a:t>SOME</a:t>
            </a:r>
            <a:r>
              <a:rPr dirty="0" sz="5000" spc="-735"/>
              <a:t> </a:t>
            </a:r>
            <a:r>
              <a:rPr dirty="0" sz="5000" spc="-1380"/>
              <a:t>OF</a:t>
            </a:r>
            <a:r>
              <a:rPr dirty="0" sz="5000" spc="-735"/>
              <a:t> </a:t>
            </a:r>
            <a:r>
              <a:rPr dirty="0" sz="5000" spc="-1290"/>
              <a:t>THE</a:t>
            </a:r>
            <a:r>
              <a:rPr dirty="0" sz="5000" spc="-735"/>
              <a:t> </a:t>
            </a:r>
            <a:r>
              <a:rPr dirty="0" sz="5000" spc="-1165"/>
              <a:t>IMPORTANT</a:t>
            </a:r>
            <a:r>
              <a:rPr dirty="0" sz="5000" spc="-735"/>
              <a:t> </a:t>
            </a:r>
            <a:r>
              <a:rPr dirty="0" sz="5000" spc="-1065"/>
              <a:t>CERTIFICATES</a:t>
            </a:r>
            <a:endParaRPr sz="5000"/>
          </a:p>
        </p:txBody>
      </p:sp>
      <p:sp>
        <p:nvSpPr>
          <p:cNvPr id="5" name="object 5"/>
          <p:cNvSpPr/>
          <p:nvPr/>
        </p:nvSpPr>
        <p:spPr>
          <a:xfrm>
            <a:off x="761898" y="8206549"/>
            <a:ext cx="7760970" cy="1435100"/>
          </a:xfrm>
          <a:custGeom>
            <a:avLst/>
            <a:gdLst/>
            <a:ahLst/>
            <a:cxnLst/>
            <a:rect l="l" t="t" r="r" b="b"/>
            <a:pathLst>
              <a:path w="7760970" h="1435100">
                <a:moveTo>
                  <a:pt x="7760348" y="279400"/>
                </a:moveTo>
                <a:lnTo>
                  <a:pt x="7760068" y="279400"/>
                </a:lnTo>
                <a:lnTo>
                  <a:pt x="7759611" y="266700"/>
                </a:lnTo>
                <a:lnTo>
                  <a:pt x="7758976" y="266700"/>
                </a:lnTo>
                <a:lnTo>
                  <a:pt x="7758163" y="254000"/>
                </a:lnTo>
                <a:lnTo>
                  <a:pt x="7757173" y="254000"/>
                </a:lnTo>
                <a:lnTo>
                  <a:pt x="7756004" y="241300"/>
                </a:lnTo>
                <a:lnTo>
                  <a:pt x="7754658" y="228600"/>
                </a:lnTo>
                <a:lnTo>
                  <a:pt x="7753134" y="228600"/>
                </a:lnTo>
                <a:lnTo>
                  <a:pt x="7751432" y="215900"/>
                </a:lnTo>
                <a:lnTo>
                  <a:pt x="7749565" y="215900"/>
                </a:lnTo>
                <a:lnTo>
                  <a:pt x="7747521" y="203200"/>
                </a:lnTo>
                <a:lnTo>
                  <a:pt x="7745298" y="203200"/>
                </a:lnTo>
                <a:lnTo>
                  <a:pt x="7742910" y="190500"/>
                </a:lnTo>
                <a:lnTo>
                  <a:pt x="7740358" y="190500"/>
                </a:lnTo>
                <a:lnTo>
                  <a:pt x="7737627" y="177800"/>
                </a:lnTo>
                <a:lnTo>
                  <a:pt x="7734744" y="165100"/>
                </a:lnTo>
                <a:lnTo>
                  <a:pt x="7731684" y="165100"/>
                </a:lnTo>
                <a:lnTo>
                  <a:pt x="7728471" y="152400"/>
                </a:lnTo>
                <a:lnTo>
                  <a:pt x="7725092" y="152400"/>
                </a:lnTo>
                <a:lnTo>
                  <a:pt x="7721562" y="139700"/>
                </a:lnTo>
                <a:lnTo>
                  <a:pt x="7717866" y="139700"/>
                </a:lnTo>
                <a:lnTo>
                  <a:pt x="7714018" y="127000"/>
                </a:lnTo>
                <a:lnTo>
                  <a:pt x="7710030" y="127000"/>
                </a:lnTo>
                <a:lnTo>
                  <a:pt x="7705877" y="114300"/>
                </a:lnTo>
                <a:lnTo>
                  <a:pt x="7697152" y="114300"/>
                </a:lnTo>
                <a:lnTo>
                  <a:pt x="7692568" y="101600"/>
                </a:lnTo>
                <a:lnTo>
                  <a:pt x="7687843" y="101600"/>
                </a:lnTo>
                <a:lnTo>
                  <a:pt x="7682992" y="88900"/>
                </a:lnTo>
                <a:lnTo>
                  <a:pt x="7678013" y="88900"/>
                </a:lnTo>
                <a:lnTo>
                  <a:pt x="7672895" y="76200"/>
                </a:lnTo>
                <a:lnTo>
                  <a:pt x="7662278" y="76200"/>
                </a:lnTo>
                <a:lnTo>
                  <a:pt x="7656792" y="63500"/>
                </a:lnTo>
                <a:lnTo>
                  <a:pt x="7651178" y="63500"/>
                </a:lnTo>
                <a:lnTo>
                  <a:pt x="7645463" y="50800"/>
                </a:lnTo>
                <a:lnTo>
                  <a:pt x="7633703" y="50800"/>
                </a:lnTo>
                <a:lnTo>
                  <a:pt x="7627658" y="38100"/>
                </a:lnTo>
                <a:lnTo>
                  <a:pt x="7608951" y="38100"/>
                </a:lnTo>
                <a:lnTo>
                  <a:pt x="7602537" y="25400"/>
                </a:lnTo>
                <a:lnTo>
                  <a:pt x="7582789" y="25400"/>
                </a:lnTo>
                <a:lnTo>
                  <a:pt x="7576058" y="12700"/>
                </a:lnTo>
                <a:lnTo>
                  <a:pt x="7548473" y="12700"/>
                </a:lnTo>
                <a:lnTo>
                  <a:pt x="7541438" y="0"/>
                </a:lnTo>
                <a:lnTo>
                  <a:pt x="218909" y="0"/>
                </a:lnTo>
                <a:lnTo>
                  <a:pt x="211874" y="12700"/>
                </a:lnTo>
                <a:lnTo>
                  <a:pt x="184289" y="12700"/>
                </a:lnTo>
                <a:lnTo>
                  <a:pt x="177558" y="25400"/>
                </a:lnTo>
                <a:lnTo>
                  <a:pt x="157810" y="25400"/>
                </a:lnTo>
                <a:lnTo>
                  <a:pt x="151396" y="38100"/>
                </a:lnTo>
                <a:lnTo>
                  <a:pt x="132689" y="38100"/>
                </a:lnTo>
                <a:lnTo>
                  <a:pt x="126644" y="50800"/>
                </a:lnTo>
                <a:lnTo>
                  <a:pt x="114884" y="50800"/>
                </a:lnTo>
                <a:lnTo>
                  <a:pt x="109156" y="63500"/>
                </a:lnTo>
                <a:lnTo>
                  <a:pt x="103555" y="63500"/>
                </a:lnTo>
                <a:lnTo>
                  <a:pt x="98069" y="76200"/>
                </a:lnTo>
                <a:lnTo>
                  <a:pt x="87452" y="76200"/>
                </a:lnTo>
                <a:lnTo>
                  <a:pt x="82334" y="88900"/>
                </a:lnTo>
                <a:lnTo>
                  <a:pt x="77343" y="88900"/>
                </a:lnTo>
                <a:lnTo>
                  <a:pt x="72491" y="101600"/>
                </a:lnTo>
                <a:lnTo>
                  <a:pt x="67779" y="101600"/>
                </a:lnTo>
                <a:lnTo>
                  <a:pt x="63195" y="114300"/>
                </a:lnTo>
                <a:lnTo>
                  <a:pt x="54470" y="114300"/>
                </a:lnTo>
                <a:lnTo>
                  <a:pt x="50317" y="127000"/>
                </a:lnTo>
                <a:lnTo>
                  <a:pt x="46316" y="127000"/>
                </a:lnTo>
                <a:lnTo>
                  <a:pt x="42481" y="139700"/>
                </a:lnTo>
                <a:lnTo>
                  <a:pt x="38785" y="139700"/>
                </a:lnTo>
                <a:lnTo>
                  <a:pt x="35255" y="152400"/>
                </a:lnTo>
                <a:lnTo>
                  <a:pt x="31877" y="152400"/>
                </a:lnTo>
                <a:lnTo>
                  <a:pt x="28651" y="165100"/>
                </a:lnTo>
                <a:lnTo>
                  <a:pt x="25603" y="165100"/>
                </a:lnTo>
                <a:lnTo>
                  <a:pt x="22707" y="177800"/>
                </a:lnTo>
                <a:lnTo>
                  <a:pt x="19989" y="190500"/>
                </a:lnTo>
                <a:lnTo>
                  <a:pt x="17424" y="190500"/>
                </a:lnTo>
                <a:lnTo>
                  <a:pt x="15036" y="203200"/>
                </a:lnTo>
                <a:lnTo>
                  <a:pt x="12827" y="203200"/>
                </a:lnTo>
                <a:lnTo>
                  <a:pt x="10782" y="215900"/>
                </a:lnTo>
                <a:lnTo>
                  <a:pt x="8902" y="215900"/>
                </a:lnTo>
                <a:lnTo>
                  <a:pt x="7213" y="228600"/>
                </a:lnTo>
                <a:lnTo>
                  <a:pt x="5689" y="228600"/>
                </a:lnTo>
                <a:lnTo>
                  <a:pt x="4343" y="241300"/>
                </a:lnTo>
                <a:lnTo>
                  <a:pt x="3175" y="254000"/>
                </a:lnTo>
                <a:lnTo>
                  <a:pt x="2171" y="254000"/>
                </a:lnTo>
                <a:lnTo>
                  <a:pt x="1358" y="266700"/>
                </a:lnTo>
                <a:lnTo>
                  <a:pt x="723" y="266700"/>
                </a:lnTo>
                <a:lnTo>
                  <a:pt x="266" y="279400"/>
                </a:lnTo>
                <a:lnTo>
                  <a:pt x="0" y="279400"/>
                </a:lnTo>
                <a:lnTo>
                  <a:pt x="0" y="1143000"/>
                </a:lnTo>
                <a:lnTo>
                  <a:pt x="266" y="1155700"/>
                </a:lnTo>
                <a:lnTo>
                  <a:pt x="723" y="1155700"/>
                </a:lnTo>
                <a:lnTo>
                  <a:pt x="1358" y="1168400"/>
                </a:lnTo>
                <a:lnTo>
                  <a:pt x="2171" y="1168400"/>
                </a:lnTo>
                <a:lnTo>
                  <a:pt x="3162" y="1181100"/>
                </a:lnTo>
                <a:lnTo>
                  <a:pt x="4343" y="1181100"/>
                </a:lnTo>
                <a:lnTo>
                  <a:pt x="5689" y="1193800"/>
                </a:lnTo>
                <a:lnTo>
                  <a:pt x="7213" y="1206500"/>
                </a:lnTo>
                <a:lnTo>
                  <a:pt x="8902" y="1206500"/>
                </a:lnTo>
                <a:lnTo>
                  <a:pt x="10782" y="1219200"/>
                </a:lnTo>
                <a:lnTo>
                  <a:pt x="12827" y="1219200"/>
                </a:lnTo>
                <a:lnTo>
                  <a:pt x="15036" y="1231900"/>
                </a:lnTo>
                <a:lnTo>
                  <a:pt x="17424" y="1231900"/>
                </a:lnTo>
                <a:lnTo>
                  <a:pt x="19977" y="1244600"/>
                </a:lnTo>
                <a:lnTo>
                  <a:pt x="22707" y="1244600"/>
                </a:lnTo>
                <a:lnTo>
                  <a:pt x="25603" y="1257300"/>
                </a:lnTo>
                <a:lnTo>
                  <a:pt x="28651" y="1257300"/>
                </a:lnTo>
                <a:lnTo>
                  <a:pt x="31864" y="1270000"/>
                </a:lnTo>
                <a:lnTo>
                  <a:pt x="35242" y="1270000"/>
                </a:lnTo>
                <a:lnTo>
                  <a:pt x="38785" y="1282700"/>
                </a:lnTo>
                <a:lnTo>
                  <a:pt x="42468" y="1282700"/>
                </a:lnTo>
                <a:lnTo>
                  <a:pt x="46316" y="1295400"/>
                </a:lnTo>
                <a:lnTo>
                  <a:pt x="50317" y="1295400"/>
                </a:lnTo>
                <a:lnTo>
                  <a:pt x="54457" y="1308100"/>
                </a:lnTo>
                <a:lnTo>
                  <a:pt x="58750" y="1308100"/>
                </a:lnTo>
                <a:lnTo>
                  <a:pt x="63182" y="1320800"/>
                </a:lnTo>
                <a:lnTo>
                  <a:pt x="67767" y="1320800"/>
                </a:lnTo>
                <a:lnTo>
                  <a:pt x="72491" y="1333500"/>
                </a:lnTo>
                <a:lnTo>
                  <a:pt x="77343" y="1333500"/>
                </a:lnTo>
                <a:lnTo>
                  <a:pt x="82321" y="1346200"/>
                </a:lnTo>
                <a:lnTo>
                  <a:pt x="92684" y="1346200"/>
                </a:lnTo>
                <a:lnTo>
                  <a:pt x="98056" y="1358900"/>
                </a:lnTo>
                <a:lnTo>
                  <a:pt x="103543" y="1358900"/>
                </a:lnTo>
                <a:lnTo>
                  <a:pt x="109143" y="1371600"/>
                </a:lnTo>
                <a:lnTo>
                  <a:pt x="120700" y="1371600"/>
                </a:lnTo>
                <a:lnTo>
                  <a:pt x="126631" y="1384300"/>
                </a:lnTo>
                <a:lnTo>
                  <a:pt x="138823" y="1384300"/>
                </a:lnTo>
                <a:lnTo>
                  <a:pt x="145059" y="1397000"/>
                </a:lnTo>
                <a:lnTo>
                  <a:pt x="164299" y="1397000"/>
                </a:lnTo>
                <a:lnTo>
                  <a:pt x="170891" y="1409700"/>
                </a:lnTo>
                <a:lnTo>
                  <a:pt x="191084" y="1409700"/>
                </a:lnTo>
                <a:lnTo>
                  <a:pt x="197954" y="1422400"/>
                </a:lnTo>
                <a:lnTo>
                  <a:pt x="240271" y="1422400"/>
                </a:lnTo>
                <a:lnTo>
                  <a:pt x="247484" y="1435100"/>
                </a:lnTo>
                <a:lnTo>
                  <a:pt x="7512863" y="1435100"/>
                </a:lnTo>
                <a:lnTo>
                  <a:pt x="7520064" y="1422400"/>
                </a:lnTo>
                <a:lnTo>
                  <a:pt x="7562393" y="1422400"/>
                </a:lnTo>
                <a:lnTo>
                  <a:pt x="7569263" y="1409700"/>
                </a:lnTo>
                <a:lnTo>
                  <a:pt x="7589456" y="1409700"/>
                </a:lnTo>
                <a:lnTo>
                  <a:pt x="7596035" y="1397000"/>
                </a:lnTo>
                <a:lnTo>
                  <a:pt x="7615288" y="1397000"/>
                </a:lnTo>
                <a:lnTo>
                  <a:pt x="7621524" y="1384300"/>
                </a:lnTo>
                <a:lnTo>
                  <a:pt x="7633716" y="1384300"/>
                </a:lnTo>
                <a:lnTo>
                  <a:pt x="7639647" y="1371600"/>
                </a:lnTo>
                <a:lnTo>
                  <a:pt x="7651191" y="1371600"/>
                </a:lnTo>
                <a:lnTo>
                  <a:pt x="7656804" y="1358900"/>
                </a:lnTo>
                <a:lnTo>
                  <a:pt x="7662291" y="1358900"/>
                </a:lnTo>
                <a:lnTo>
                  <a:pt x="7667650" y="1346200"/>
                </a:lnTo>
                <a:lnTo>
                  <a:pt x="7678013" y="1346200"/>
                </a:lnTo>
                <a:lnTo>
                  <a:pt x="7683005" y="1333500"/>
                </a:lnTo>
                <a:lnTo>
                  <a:pt x="7687856" y="1333500"/>
                </a:lnTo>
                <a:lnTo>
                  <a:pt x="7692580" y="1320800"/>
                </a:lnTo>
                <a:lnTo>
                  <a:pt x="7697152" y="1320800"/>
                </a:lnTo>
                <a:lnTo>
                  <a:pt x="7701597" y="1308100"/>
                </a:lnTo>
                <a:lnTo>
                  <a:pt x="7705890" y="1308100"/>
                </a:lnTo>
                <a:lnTo>
                  <a:pt x="7710030" y="1295400"/>
                </a:lnTo>
                <a:lnTo>
                  <a:pt x="7714031" y="1295400"/>
                </a:lnTo>
                <a:lnTo>
                  <a:pt x="7717879" y="1282700"/>
                </a:lnTo>
                <a:lnTo>
                  <a:pt x="7721562" y="1282700"/>
                </a:lnTo>
                <a:lnTo>
                  <a:pt x="7725105" y="1270000"/>
                </a:lnTo>
                <a:lnTo>
                  <a:pt x="7728483" y="1270000"/>
                </a:lnTo>
                <a:lnTo>
                  <a:pt x="7731696" y="1257300"/>
                </a:lnTo>
                <a:lnTo>
                  <a:pt x="7734744" y="1257300"/>
                </a:lnTo>
                <a:lnTo>
                  <a:pt x="7737640" y="1244600"/>
                </a:lnTo>
                <a:lnTo>
                  <a:pt x="7740358" y="1244600"/>
                </a:lnTo>
                <a:lnTo>
                  <a:pt x="7742923" y="1231900"/>
                </a:lnTo>
                <a:lnTo>
                  <a:pt x="7745298" y="1231900"/>
                </a:lnTo>
                <a:lnTo>
                  <a:pt x="7747521" y="1219200"/>
                </a:lnTo>
                <a:lnTo>
                  <a:pt x="7749565" y="1219200"/>
                </a:lnTo>
                <a:lnTo>
                  <a:pt x="7751445" y="1206500"/>
                </a:lnTo>
                <a:lnTo>
                  <a:pt x="7753134" y="1206500"/>
                </a:lnTo>
                <a:lnTo>
                  <a:pt x="7754658" y="1193800"/>
                </a:lnTo>
                <a:lnTo>
                  <a:pt x="7756004" y="1181100"/>
                </a:lnTo>
                <a:lnTo>
                  <a:pt x="7757173" y="1181100"/>
                </a:lnTo>
                <a:lnTo>
                  <a:pt x="7758163" y="1168400"/>
                </a:lnTo>
                <a:lnTo>
                  <a:pt x="7758976" y="1168400"/>
                </a:lnTo>
                <a:lnTo>
                  <a:pt x="7759624" y="1155700"/>
                </a:lnTo>
                <a:lnTo>
                  <a:pt x="7760068" y="1155700"/>
                </a:lnTo>
                <a:lnTo>
                  <a:pt x="7760348" y="1143000"/>
                </a:lnTo>
                <a:lnTo>
                  <a:pt x="7760348" y="27940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08502" y="8212683"/>
            <a:ext cx="7760970" cy="1435100"/>
          </a:xfrm>
          <a:custGeom>
            <a:avLst/>
            <a:gdLst/>
            <a:ahLst/>
            <a:cxnLst/>
            <a:rect l="l" t="t" r="r" b="b"/>
            <a:pathLst>
              <a:path w="7760969" h="1435100">
                <a:moveTo>
                  <a:pt x="7760348" y="279400"/>
                </a:moveTo>
                <a:lnTo>
                  <a:pt x="7760068" y="279400"/>
                </a:lnTo>
                <a:lnTo>
                  <a:pt x="7759624" y="266700"/>
                </a:lnTo>
                <a:lnTo>
                  <a:pt x="7758976" y="266700"/>
                </a:lnTo>
                <a:lnTo>
                  <a:pt x="7758163" y="254000"/>
                </a:lnTo>
                <a:lnTo>
                  <a:pt x="7757173" y="254000"/>
                </a:lnTo>
                <a:lnTo>
                  <a:pt x="7756004" y="241300"/>
                </a:lnTo>
                <a:lnTo>
                  <a:pt x="7754658" y="228600"/>
                </a:lnTo>
                <a:lnTo>
                  <a:pt x="7753134" y="228600"/>
                </a:lnTo>
                <a:lnTo>
                  <a:pt x="7751432" y="215900"/>
                </a:lnTo>
                <a:lnTo>
                  <a:pt x="7749565" y="215900"/>
                </a:lnTo>
                <a:lnTo>
                  <a:pt x="7747521" y="203200"/>
                </a:lnTo>
                <a:lnTo>
                  <a:pt x="7745298" y="203200"/>
                </a:lnTo>
                <a:lnTo>
                  <a:pt x="7742910" y="190500"/>
                </a:lnTo>
                <a:lnTo>
                  <a:pt x="7740358" y="190500"/>
                </a:lnTo>
                <a:lnTo>
                  <a:pt x="7737640" y="177800"/>
                </a:lnTo>
                <a:lnTo>
                  <a:pt x="7734744" y="165100"/>
                </a:lnTo>
                <a:lnTo>
                  <a:pt x="7731684" y="165100"/>
                </a:lnTo>
                <a:lnTo>
                  <a:pt x="7728471" y="152400"/>
                </a:lnTo>
                <a:lnTo>
                  <a:pt x="7725092" y="152400"/>
                </a:lnTo>
                <a:lnTo>
                  <a:pt x="7721562" y="139700"/>
                </a:lnTo>
                <a:lnTo>
                  <a:pt x="7717866" y="139700"/>
                </a:lnTo>
                <a:lnTo>
                  <a:pt x="7714018" y="127000"/>
                </a:lnTo>
                <a:lnTo>
                  <a:pt x="7710030" y="127000"/>
                </a:lnTo>
                <a:lnTo>
                  <a:pt x="7705877" y="114300"/>
                </a:lnTo>
                <a:lnTo>
                  <a:pt x="7697152" y="114300"/>
                </a:lnTo>
                <a:lnTo>
                  <a:pt x="7692568" y="101600"/>
                </a:lnTo>
                <a:lnTo>
                  <a:pt x="7687843" y="101600"/>
                </a:lnTo>
                <a:lnTo>
                  <a:pt x="7682992" y="88900"/>
                </a:lnTo>
                <a:lnTo>
                  <a:pt x="7678013" y="88900"/>
                </a:lnTo>
                <a:lnTo>
                  <a:pt x="7672895" y="76200"/>
                </a:lnTo>
                <a:lnTo>
                  <a:pt x="7662278" y="76200"/>
                </a:lnTo>
                <a:lnTo>
                  <a:pt x="7656792" y="63500"/>
                </a:lnTo>
                <a:lnTo>
                  <a:pt x="7651191" y="63500"/>
                </a:lnTo>
                <a:lnTo>
                  <a:pt x="7645463" y="50800"/>
                </a:lnTo>
                <a:lnTo>
                  <a:pt x="7633703" y="50800"/>
                </a:lnTo>
                <a:lnTo>
                  <a:pt x="7627658" y="38100"/>
                </a:lnTo>
                <a:lnTo>
                  <a:pt x="7608951" y="38100"/>
                </a:lnTo>
                <a:lnTo>
                  <a:pt x="7602537" y="25400"/>
                </a:lnTo>
                <a:lnTo>
                  <a:pt x="7582789" y="25400"/>
                </a:lnTo>
                <a:lnTo>
                  <a:pt x="7576058" y="12700"/>
                </a:lnTo>
                <a:lnTo>
                  <a:pt x="7548473" y="12700"/>
                </a:lnTo>
                <a:lnTo>
                  <a:pt x="7541438" y="0"/>
                </a:lnTo>
                <a:lnTo>
                  <a:pt x="218909" y="0"/>
                </a:lnTo>
                <a:lnTo>
                  <a:pt x="211874" y="12700"/>
                </a:lnTo>
                <a:lnTo>
                  <a:pt x="184289" y="12700"/>
                </a:lnTo>
                <a:lnTo>
                  <a:pt x="177558" y="25400"/>
                </a:lnTo>
                <a:lnTo>
                  <a:pt x="157810" y="25400"/>
                </a:lnTo>
                <a:lnTo>
                  <a:pt x="151396" y="38100"/>
                </a:lnTo>
                <a:lnTo>
                  <a:pt x="132689" y="38100"/>
                </a:lnTo>
                <a:lnTo>
                  <a:pt x="126644" y="50800"/>
                </a:lnTo>
                <a:lnTo>
                  <a:pt x="114884" y="50800"/>
                </a:lnTo>
                <a:lnTo>
                  <a:pt x="109156" y="63500"/>
                </a:lnTo>
                <a:lnTo>
                  <a:pt x="103555" y="63500"/>
                </a:lnTo>
                <a:lnTo>
                  <a:pt x="98069" y="76200"/>
                </a:lnTo>
                <a:lnTo>
                  <a:pt x="87452" y="76200"/>
                </a:lnTo>
                <a:lnTo>
                  <a:pt x="82334" y="88900"/>
                </a:lnTo>
                <a:lnTo>
                  <a:pt x="77343" y="88900"/>
                </a:lnTo>
                <a:lnTo>
                  <a:pt x="72491" y="101600"/>
                </a:lnTo>
                <a:lnTo>
                  <a:pt x="67779" y="101600"/>
                </a:lnTo>
                <a:lnTo>
                  <a:pt x="63195" y="114300"/>
                </a:lnTo>
                <a:lnTo>
                  <a:pt x="54470" y="114300"/>
                </a:lnTo>
                <a:lnTo>
                  <a:pt x="50317" y="127000"/>
                </a:lnTo>
                <a:lnTo>
                  <a:pt x="46316" y="127000"/>
                </a:lnTo>
                <a:lnTo>
                  <a:pt x="42481" y="139700"/>
                </a:lnTo>
                <a:lnTo>
                  <a:pt x="38785" y="139700"/>
                </a:lnTo>
                <a:lnTo>
                  <a:pt x="35255" y="152400"/>
                </a:lnTo>
                <a:lnTo>
                  <a:pt x="31877" y="152400"/>
                </a:lnTo>
                <a:lnTo>
                  <a:pt x="28651" y="165100"/>
                </a:lnTo>
                <a:lnTo>
                  <a:pt x="25603" y="165100"/>
                </a:lnTo>
                <a:lnTo>
                  <a:pt x="22707" y="177800"/>
                </a:lnTo>
                <a:lnTo>
                  <a:pt x="19989" y="190500"/>
                </a:lnTo>
                <a:lnTo>
                  <a:pt x="17424" y="190500"/>
                </a:lnTo>
                <a:lnTo>
                  <a:pt x="15049" y="203200"/>
                </a:lnTo>
                <a:lnTo>
                  <a:pt x="12827" y="203200"/>
                </a:lnTo>
                <a:lnTo>
                  <a:pt x="10782" y="215900"/>
                </a:lnTo>
                <a:lnTo>
                  <a:pt x="8902" y="215900"/>
                </a:lnTo>
                <a:lnTo>
                  <a:pt x="7213" y="228600"/>
                </a:lnTo>
                <a:lnTo>
                  <a:pt x="5689" y="228600"/>
                </a:lnTo>
                <a:lnTo>
                  <a:pt x="4343" y="241300"/>
                </a:lnTo>
                <a:lnTo>
                  <a:pt x="3175" y="254000"/>
                </a:lnTo>
                <a:lnTo>
                  <a:pt x="2171" y="254000"/>
                </a:lnTo>
                <a:lnTo>
                  <a:pt x="1358" y="266700"/>
                </a:lnTo>
                <a:lnTo>
                  <a:pt x="723" y="266700"/>
                </a:lnTo>
                <a:lnTo>
                  <a:pt x="266" y="279400"/>
                </a:lnTo>
                <a:lnTo>
                  <a:pt x="0" y="279400"/>
                </a:lnTo>
                <a:lnTo>
                  <a:pt x="0" y="1143000"/>
                </a:lnTo>
                <a:lnTo>
                  <a:pt x="266" y="1155700"/>
                </a:lnTo>
                <a:lnTo>
                  <a:pt x="723" y="1155700"/>
                </a:lnTo>
                <a:lnTo>
                  <a:pt x="1358" y="1168400"/>
                </a:lnTo>
                <a:lnTo>
                  <a:pt x="2171" y="1168400"/>
                </a:lnTo>
                <a:lnTo>
                  <a:pt x="3175" y="1181100"/>
                </a:lnTo>
                <a:lnTo>
                  <a:pt x="4343" y="1181100"/>
                </a:lnTo>
                <a:lnTo>
                  <a:pt x="5689" y="1193800"/>
                </a:lnTo>
                <a:lnTo>
                  <a:pt x="7213" y="1206500"/>
                </a:lnTo>
                <a:lnTo>
                  <a:pt x="8902" y="1206500"/>
                </a:lnTo>
                <a:lnTo>
                  <a:pt x="10782" y="1219200"/>
                </a:lnTo>
                <a:lnTo>
                  <a:pt x="12827" y="1219200"/>
                </a:lnTo>
                <a:lnTo>
                  <a:pt x="15036" y="1231900"/>
                </a:lnTo>
                <a:lnTo>
                  <a:pt x="17424" y="1231900"/>
                </a:lnTo>
                <a:lnTo>
                  <a:pt x="19989" y="1244600"/>
                </a:lnTo>
                <a:lnTo>
                  <a:pt x="22707" y="1244600"/>
                </a:lnTo>
                <a:lnTo>
                  <a:pt x="25603" y="1257300"/>
                </a:lnTo>
                <a:lnTo>
                  <a:pt x="28651" y="1257300"/>
                </a:lnTo>
                <a:lnTo>
                  <a:pt x="31864" y="1270000"/>
                </a:lnTo>
                <a:lnTo>
                  <a:pt x="35242" y="1270000"/>
                </a:lnTo>
                <a:lnTo>
                  <a:pt x="38785" y="1282700"/>
                </a:lnTo>
                <a:lnTo>
                  <a:pt x="42468" y="1282700"/>
                </a:lnTo>
                <a:lnTo>
                  <a:pt x="46316" y="1295400"/>
                </a:lnTo>
                <a:lnTo>
                  <a:pt x="50317" y="1295400"/>
                </a:lnTo>
                <a:lnTo>
                  <a:pt x="54457" y="1308100"/>
                </a:lnTo>
                <a:lnTo>
                  <a:pt x="58750" y="1308100"/>
                </a:lnTo>
                <a:lnTo>
                  <a:pt x="63182" y="1320800"/>
                </a:lnTo>
                <a:lnTo>
                  <a:pt x="67767" y="1320800"/>
                </a:lnTo>
                <a:lnTo>
                  <a:pt x="72491" y="1333500"/>
                </a:lnTo>
                <a:lnTo>
                  <a:pt x="77343" y="1333500"/>
                </a:lnTo>
                <a:lnTo>
                  <a:pt x="82321" y="1346200"/>
                </a:lnTo>
                <a:lnTo>
                  <a:pt x="92684" y="1346200"/>
                </a:lnTo>
                <a:lnTo>
                  <a:pt x="98056" y="1358900"/>
                </a:lnTo>
                <a:lnTo>
                  <a:pt x="103543" y="1358900"/>
                </a:lnTo>
                <a:lnTo>
                  <a:pt x="109143" y="1371600"/>
                </a:lnTo>
                <a:lnTo>
                  <a:pt x="120700" y="1371600"/>
                </a:lnTo>
                <a:lnTo>
                  <a:pt x="126631" y="1384300"/>
                </a:lnTo>
                <a:lnTo>
                  <a:pt x="138823" y="1384300"/>
                </a:lnTo>
                <a:lnTo>
                  <a:pt x="145059" y="1397000"/>
                </a:lnTo>
                <a:lnTo>
                  <a:pt x="164299" y="1397000"/>
                </a:lnTo>
                <a:lnTo>
                  <a:pt x="170891" y="1409700"/>
                </a:lnTo>
                <a:lnTo>
                  <a:pt x="191084" y="1409700"/>
                </a:lnTo>
                <a:lnTo>
                  <a:pt x="197954" y="1422400"/>
                </a:lnTo>
                <a:lnTo>
                  <a:pt x="240271" y="1422400"/>
                </a:lnTo>
                <a:lnTo>
                  <a:pt x="247484" y="1435100"/>
                </a:lnTo>
                <a:lnTo>
                  <a:pt x="7512863" y="1435100"/>
                </a:lnTo>
                <a:lnTo>
                  <a:pt x="7520064" y="1422400"/>
                </a:lnTo>
                <a:lnTo>
                  <a:pt x="7562393" y="1422400"/>
                </a:lnTo>
                <a:lnTo>
                  <a:pt x="7569263" y="1409700"/>
                </a:lnTo>
                <a:lnTo>
                  <a:pt x="7589456" y="1409700"/>
                </a:lnTo>
                <a:lnTo>
                  <a:pt x="7596035" y="1397000"/>
                </a:lnTo>
                <a:lnTo>
                  <a:pt x="7615288" y="1397000"/>
                </a:lnTo>
                <a:lnTo>
                  <a:pt x="7621524" y="1384300"/>
                </a:lnTo>
                <a:lnTo>
                  <a:pt x="7633716" y="1384300"/>
                </a:lnTo>
                <a:lnTo>
                  <a:pt x="7639647" y="1371600"/>
                </a:lnTo>
                <a:lnTo>
                  <a:pt x="7651191" y="1371600"/>
                </a:lnTo>
                <a:lnTo>
                  <a:pt x="7656804" y="1358900"/>
                </a:lnTo>
                <a:lnTo>
                  <a:pt x="7662291" y="1358900"/>
                </a:lnTo>
                <a:lnTo>
                  <a:pt x="7667650" y="1346200"/>
                </a:lnTo>
                <a:lnTo>
                  <a:pt x="7678026" y="1346200"/>
                </a:lnTo>
                <a:lnTo>
                  <a:pt x="7683005" y="1333500"/>
                </a:lnTo>
                <a:lnTo>
                  <a:pt x="7687856" y="1333500"/>
                </a:lnTo>
                <a:lnTo>
                  <a:pt x="7692580" y="1320800"/>
                </a:lnTo>
                <a:lnTo>
                  <a:pt x="7697152" y="1320800"/>
                </a:lnTo>
                <a:lnTo>
                  <a:pt x="7701597" y="1308100"/>
                </a:lnTo>
                <a:lnTo>
                  <a:pt x="7705890" y="1308100"/>
                </a:lnTo>
                <a:lnTo>
                  <a:pt x="7710030" y="1295400"/>
                </a:lnTo>
                <a:lnTo>
                  <a:pt x="7714031" y="1295400"/>
                </a:lnTo>
                <a:lnTo>
                  <a:pt x="7717879" y="1282700"/>
                </a:lnTo>
                <a:lnTo>
                  <a:pt x="7721562" y="1282700"/>
                </a:lnTo>
                <a:lnTo>
                  <a:pt x="7725105" y="1270000"/>
                </a:lnTo>
                <a:lnTo>
                  <a:pt x="7728483" y="1270000"/>
                </a:lnTo>
                <a:lnTo>
                  <a:pt x="7731696" y="1257300"/>
                </a:lnTo>
                <a:lnTo>
                  <a:pt x="7734744" y="1257300"/>
                </a:lnTo>
                <a:lnTo>
                  <a:pt x="7737640" y="1244600"/>
                </a:lnTo>
                <a:lnTo>
                  <a:pt x="7740358" y="1244600"/>
                </a:lnTo>
                <a:lnTo>
                  <a:pt x="7742923" y="1231900"/>
                </a:lnTo>
                <a:lnTo>
                  <a:pt x="7745311" y="1231900"/>
                </a:lnTo>
                <a:lnTo>
                  <a:pt x="7747521" y="1219200"/>
                </a:lnTo>
                <a:lnTo>
                  <a:pt x="7749565" y="1219200"/>
                </a:lnTo>
                <a:lnTo>
                  <a:pt x="7751445" y="1206500"/>
                </a:lnTo>
                <a:lnTo>
                  <a:pt x="7753134" y="1206500"/>
                </a:lnTo>
                <a:lnTo>
                  <a:pt x="7754658" y="1193800"/>
                </a:lnTo>
                <a:lnTo>
                  <a:pt x="7756004" y="1181100"/>
                </a:lnTo>
                <a:lnTo>
                  <a:pt x="7757173" y="1181100"/>
                </a:lnTo>
                <a:lnTo>
                  <a:pt x="7758163" y="1168400"/>
                </a:lnTo>
                <a:lnTo>
                  <a:pt x="7758989" y="1168400"/>
                </a:lnTo>
                <a:lnTo>
                  <a:pt x="7759624" y="1155700"/>
                </a:lnTo>
                <a:lnTo>
                  <a:pt x="7760081" y="1155700"/>
                </a:lnTo>
                <a:lnTo>
                  <a:pt x="7760348" y="1143000"/>
                </a:lnTo>
                <a:lnTo>
                  <a:pt x="7760348" y="27940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19962" y="8341976"/>
            <a:ext cx="7055484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67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Journey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to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Cloud: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Orchestrating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Your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Solution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—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IBM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SkillsBuild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(Issued</a:t>
            </a:r>
            <a:r>
              <a:rPr dirty="0" sz="1500" spc="-85" b="1">
                <a:latin typeface="Arial"/>
                <a:cs typeface="Arial"/>
              </a:rPr>
              <a:t> </a:t>
            </a:r>
            <a:r>
              <a:rPr dirty="0" sz="1500" spc="-25" b="1">
                <a:latin typeface="Arial"/>
                <a:cs typeface="Arial"/>
              </a:rPr>
              <a:t>Aug </a:t>
            </a:r>
            <a:r>
              <a:rPr dirty="0" sz="1500" b="1">
                <a:latin typeface="Arial"/>
                <a:cs typeface="Arial"/>
              </a:rPr>
              <a:t>17,</a:t>
            </a:r>
            <a:r>
              <a:rPr dirty="0" sz="1500" spc="-1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2026)</a:t>
            </a:r>
            <a:endParaRPr sz="1500">
              <a:latin typeface="Arial"/>
              <a:cs typeface="Arial"/>
            </a:endParaRPr>
          </a:p>
          <a:p>
            <a:pPr algn="ctr" marL="551180" marR="490220">
              <a:lnSpc>
                <a:spcPct val="116700"/>
              </a:lnSpc>
            </a:pPr>
            <a:r>
              <a:rPr dirty="0" sz="1500" b="1">
                <a:latin typeface="Arial"/>
                <a:cs typeface="Arial"/>
              </a:rPr>
              <a:t>Certified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in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designing</a:t>
            </a:r>
            <a:r>
              <a:rPr dirty="0" sz="1500" spc="-1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and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orchestrating</a:t>
            </a:r>
            <a:r>
              <a:rPr dirty="0" sz="1500" spc="-10" b="1">
                <a:latin typeface="Arial"/>
                <a:cs typeface="Arial"/>
              </a:rPr>
              <a:t> end-to-</a:t>
            </a:r>
            <a:r>
              <a:rPr dirty="0" sz="1500" b="1">
                <a:latin typeface="Arial"/>
                <a:cs typeface="Arial"/>
              </a:rPr>
              <a:t>end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cloud</a:t>
            </a:r>
            <a:r>
              <a:rPr dirty="0" sz="1500" spc="-10" b="1">
                <a:latin typeface="Arial"/>
                <a:cs typeface="Arial"/>
              </a:rPr>
              <a:t> solution </a:t>
            </a:r>
            <a:r>
              <a:rPr dirty="0" sz="1500" b="1">
                <a:latin typeface="Arial"/>
                <a:cs typeface="Arial"/>
              </a:rPr>
              <a:t>deployments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as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part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of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IBM's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cloud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learning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path.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48928" y="8463849"/>
            <a:ext cx="7079615" cy="87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6199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Cloud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Computing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Fundamentals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—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IBM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SkillsBuild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(Issued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Aug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17,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2026) </a:t>
            </a:r>
            <a:r>
              <a:rPr dirty="0" sz="1600" b="1">
                <a:latin typeface="Arial"/>
                <a:cs typeface="Arial"/>
              </a:rPr>
              <a:t>Certified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foundational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cloud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computing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concepts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principles </a:t>
            </a:r>
            <a:r>
              <a:rPr dirty="0" sz="1600" b="1">
                <a:latin typeface="Arial"/>
                <a:cs typeface="Arial"/>
              </a:rPr>
              <a:t>through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IBM's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SkillsBuild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program.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480250" y="630275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5"/>
                </a:moveTo>
                <a:lnTo>
                  <a:pt x="1774486" y="219075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5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27104"/>
            <a:ext cx="3115310" cy="1647189"/>
          </a:xfrm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500">
                <a:latin typeface="Microsoft Sans Serif"/>
                <a:cs typeface="Microsoft Sans Serif"/>
              </a:rPr>
              <a:t>Creative</a:t>
            </a:r>
            <a:r>
              <a:rPr dirty="0" sz="2500" spc="-30">
                <a:latin typeface="Microsoft Sans Serif"/>
                <a:cs typeface="Microsoft Sans Serif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Presentation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6800" spc="-1345"/>
              <a:t>INTERNSHIPS</a:t>
            </a:r>
            <a:endParaRPr sz="6800"/>
          </a:p>
        </p:txBody>
      </p:sp>
      <p:sp>
        <p:nvSpPr>
          <p:cNvPr id="3" name="object 3"/>
          <p:cNvSpPr txBox="1"/>
          <p:nvPr/>
        </p:nvSpPr>
        <p:spPr>
          <a:xfrm>
            <a:off x="1016000" y="2542262"/>
            <a:ext cx="16236950" cy="662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135485">
              <a:lnSpc>
                <a:spcPct val="114599"/>
              </a:lnSpc>
              <a:spcBef>
                <a:spcPts val="100"/>
              </a:spcBef>
              <a:tabLst>
                <a:tab pos="3583940" algn="l"/>
              </a:tabLst>
            </a:pP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Sales</a:t>
            </a:r>
            <a:r>
              <a:rPr dirty="0" u="sng" sz="1800" spc="-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800" spc="-25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Marketing</a:t>
            </a:r>
            <a:r>
              <a:rPr dirty="0" u="sng" sz="1800" spc="2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(</a:t>
            </a:r>
            <a:r>
              <a:rPr dirty="0" u="sng" sz="1800" spc="-1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Intern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)</a:t>
            </a:r>
            <a:r>
              <a:rPr dirty="0" u="sng" sz="180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800" spc="-2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2022</a:t>
            </a:r>
            <a:r>
              <a:rPr dirty="0" sz="1800" spc="-2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D3D0CB"/>
                </a:solidFill>
                <a:latin typeface="Arial"/>
                <a:cs typeface="Arial"/>
              </a:rPr>
              <a:t>Unschool</a:t>
            </a:r>
            <a:endParaRPr sz="1800">
              <a:latin typeface="Arial"/>
              <a:cs typeface="Arial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qualified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prospective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learners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through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outbound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calls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messaging,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contributing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lead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efforts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platform's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course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offerings.</a:t>
            </a:r>
            <a:endParaRPr sz="1800">
              <a:latin typeface="Microsoft Sans Serif"/>
              <a:cs typeface="Microsoft Sans Serif"/>
            </a:endParaRPr>
          </a:p>
          <a:p>
            <a:pPr marL="142875" indent="-130175">
              <a:lnSpc>
                <a:spcPct val="100000"/>
              </a:lnSpc>
              <a:spcBef>
                <a:spcPts val="315"/>
              </a:spcBef>
              <a:buChar char="•"/>
              <a:tabLst>
                <a:tab pos="1428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Assisted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executing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campaigns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email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channels,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supporting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increased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visibility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engagement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</a:t>
            </a:r>
            <a:endParaRPr sz="1800">
              <a:latin typeface="Microsoft Sans Serif"/>
              <a:cs typeface="Microsoft Sans Serif"/>
            </a:endParaRPr>
          </a:p>
          <a:p>
            <a:pPr marL="151130" indent="-138430">
              <a:lnSpc>
                <a:spcPct val="100000"/>
              </a:lnSpc>
              <a:spcBef>
                <a:spcPts val="315"/>
              </a:spcBef>
              <a:buChar char="•"/>
              <a:tabLst>
                <a:tab pos="151130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Tracked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analyzed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lead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drop-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off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points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sales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funnel,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providing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insights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improve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outreach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Collaborated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sales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refine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pitch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messaging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follow-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processes,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contributing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more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enrollment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conversion.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D3D0CB"/>
              </a:buClr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12700" marR="12071350">
              <a:lnSpc>
                <a:spcPct val="114599"/>
              </a:lnSpc>
              <a:tabLst>
                <a:tab pos="3647440" algn="l"/>
              </a:tabLst>
            </a:pP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Social</a:t>
            </a:r>
            <a:r>
              <a:rPr dirty="0" u="sng" sz="1800" spc="-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Media</a:t>
            </a:r>
            <a:r>
              <a:rPr dirty="0" u="sng" sz="1800" spc="-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Marketing</a:t>
            </a:r>
            <a:r>
              <a:rPr dirty="0" u="sng" sz="1800" spc="15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(</a:t>
            </a:r>
            <a:r>
              <a:rPr dirty="0" u="sng" sz="1800" spc="-1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Intern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)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	</a:t>
            </a:r>
            <a:r>
              <a:rPr dirty="0" u="sng" sz="1800" spc="-2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2026</a:t>
            </a:r>
            <a:r>
              <a:rPr dirty="0" sz="1800" spc="-2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3D0CB"/>
                </a:solidFill>
                <a:latin typeface="Arial"/>
                <a:cs typeface="Arial"/>
              </a:rPr>
              <a:t>The</a:t>
            </a:r>
            <a:r>
              <a:rPr dirty="0" sz="1800" spc="-8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3D0CB"/>
                </a:solidFill>
                <a:latin typeface="Arial"/>
                <a:cs typeface="Arial"/>
              </a:rPr>
              <a:t>Yellow</a:t>
            </a:r>
            <a:r>
              <a:rPr dirty="0" sz="1800" spc="-5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D3D0CB"/>
                </a:solidFill>
                <a:latin typeface="Arial"/>
                <a:cs typeface="Arial"/>
              </a:rPr>
              <a:t>Submarine</a:t>
            </a:r>
            <a:endParaRPr sz="1800">
              <a:latin typeface="Arial"/>
              <a:cs typeface="Arial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Developed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executed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calendars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brands,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aligning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post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themes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each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brand's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identity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target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audience.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Conducted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competitor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market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inform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helping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positioning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gaps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opportunities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accounts.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Created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refined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messaging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visual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guidelines,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consistency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platforms.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Compiled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comprehensive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internship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report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campaign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strategy,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translating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insights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recommendations.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D3D0CB"/>
              </a:buClr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12700" marR="11953240">
              <a:lnSpc>
                <a:spcPct val="114599"/>
              </a:lnSpc>
              <a:tabLst>
                <a:tab pos="3766185" algn="l"/>
              </a:tabLst>
            </a:pP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Social</a:t>
            </a:r>
            <a:r>
              <a:rPr dirty="0" u="sng" sz="1800" spc="-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Media</a:t>
            </a:r>
            <a:r>
              <a:rPr dirty="0" u="sng" sz="1800" spc="-9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Analyst</a:t>
            </a:r>
            <a:r>
              <a:rPr dirty="0" u="sng" sz="1800" spc="-25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(</a:t>
            </a:r>
            <a:r>
              <a:rPr dirty="0" u="sng" sz="1800" spc="-1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Intern</a:t>
            </a:r>
            <a:r>
              <a:rPr dirty="0" sz="1800" spc="-10" b="1">
                <a:solidFill>
                  <a:srgbClr val="D3D0CB"/>
                </a:solidFill>
                <a:latin typeface="Arial"/>
                <a:cs typeface="Arial"/>
              </a:rPr>
              <a:t>)</a:t>
            </a:r>
            <a:r>
              <a:rPr dirty="0" u="sng" sz="180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800" spc="-2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2026</a:t>
            </a:r>
            <a:r>
              <a:rPr dirty="0" sz="1800" spc="-2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3D0CB"/>
                </a:solidFill>
                <a:latin typeface="Arial"/>
                <a:cs typeface="Arial"/>
              </a:rPr>
              <a:t>The</a:t>
            </a:r>
            <a:r>
              <a:rPr dirty="0" sz="1800" spc="-3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3D0CB"/>
                </a:solidFill>
                <a:latin typeface="Arial"/>
                <a:cs typeface="Arial"/>
              </a:rPr>
              <a:t>4th</a:t>
            </a:r>
            <a:r>
              <a:rPr dirty="0" sz="1800" spc="-7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1800" spc="-20" b="1" i="1">
                <a:solidFill>
                  <a:srgbClr val="D3D0CB"/>
                </a:solidFill>
                <a:latin typeface="Arial"/>
                <a:cs typeface="Arial"/>
              </a:rPr>
              <a:t>Axis</a:t>
            </a:r>
            <a:endParaRPr sz="1800">
              <a:latin typeface="Arial"/>
              <a:cs typeface="Arial"/>
            </a:endParaRPr>
          </a:p>
          <a:p>
            <a:pPr marL="12700" marR="33020" indent="142875">
              <a:lnSpc>
                <a:spcPct val="114599"/>
              </a:lnSpc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Monitored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analyzed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metrics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(engagement,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reach,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follower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growth)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brand's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trends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among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Bengali-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speaking</a:t>
            </a:r>
            <a:r>
              <a:rPr dirty="0" sz="18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audiences.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Conducted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engagement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outreach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strengthen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audience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interaction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presence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8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platforms.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Performed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market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regional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trends,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providing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improve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relevance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audience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retention.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spcBef>
                <a:spcPts val="315"/>
              </a:spcBef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Compiled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reports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summarizing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performance,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translating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insights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informed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brand's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ongoing</a:t>
            </a:r>
            <a:r>
              <a:rPr dirty="0" sz="18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strategy.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6000" y="9482210"/>
            <a:ext cx="3382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39014" y="9392019"/>
            <a:ext cx="6006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2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5847" y="1952945"/>
            <a:ext cx="4057649" cy="57340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1952945"/>
            <a:ext cx="4057649" cy="57340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1903" y="204172"/>
            <a:ext cx="3803015" cy="1552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7559"/>
              </a:lnSpc>
              <a:spcBef>
                <a:spcPts val="120"/>
              </a:spcBef>
            </a:pPr>
            <a:r>
              <a:rPr dirty="0" sz="6800" spc="-1345"/>
              <a:t>INTERNSHIPS</a:t>
            </a:r>
            <a:endParaRPr sz="6800"/>
          </a:p>
          <a:p>
            <a:pPr marL="12700">
              <a:lnSpc>
                <a:spcPts val="4440"/>
              </a:lnSpc>
            </a:pPr>
            <a:r>
              <a:rPr dirty="0" sz="4200" spc="-844"/>
              <a:t>INTERNSHIP</a:t>
            </a:r>
            <a:r>
              <a:rPr dirty="0" sz="4200" spc="-610"/>
              <a:t> </a:t>
            </a:r>
            <a:r>
              <a:rPr dirty="0" sz="4200" spc="-890"/>
              <a:t>CERTIFICATES</a:t>
            </a:r>
            <a:endParaRPr sz="4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8" y="8017964"/>
            <a:ext cx="4039461" cy="7497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1010" y="8037924"/>
            <a:ext cx="4039461" cy="7497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81085" y="8082432"/>
            <a:ext cx="3749040" cy="581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21500"/>
              </a:lnSpc>
              <a:spcBef>
                <a:spcPts val="90"/>
              </a:spcBef>
            </a:pPr>
            <a:r>
              <a:rPr dirty="0" sz="750" b="1">
                <a:latin typeface="Arial"/>
                <a:cs typeface="Arial"/>
              </a:rPr>
              <a:t>Certificate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of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Appreciation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—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The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Yellow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Submarine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(Mar–Jun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2026)</a:t>
            </a:r>
            <a:r>
              <a:rPr dirty="0" sz="750" spc="50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Recognized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as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Social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Media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Marketing</a:t>
            </a:r>
            <a:r>
              <a:rPr dirty="0" sz="750" spc="1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Intern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contributions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across</a:t>
            </a:r>
            <a:r>
              <a:rPr dirty="0" sz="750" spc="10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social </a:t>
            </a:r>
            <a:r>
              <a:rPr dirty="0" sz="750" b="1">
                <a:latin typeface="Arial"/>
                <a:cs typeface="Arial"/>
              </a:rPr>
              <a:t>media</a:t>
            </a:r>
            <a:r>
              <a:rPr dirty="0" sz="750" spc="1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assessment,</a:t>
            </a:r>
            <a:r>
              <a:rPr dirty="0" sz="750" spc="1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community</a:t>
            </a:r>
            <a:r>
              <a:rPr dirty="0" sz="750" spc="1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engagement,</a:t>
            </a:r>
            <a:r>
              <a:rPr dirty="0" sz="750" spc="1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digital</a:t>
            </a:r>
            <a:r>
              <a:rPr dirty="0" sz="750" spc="1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outreach,</a:t>
            </a:r>
            <a:r>
              <a:rPr dirty="0" sz="750" spc="1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market</a:t>
            </a:r>
            <a:r>
              <a:rPr dirty="0" sz="750" spc="1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research, </a:t>
            </a:r>
            <a:r>
              <a:rPr dirty="0" sz="750" b="1">
                <a:latin typeface="Arial"/>
                <a:cs typeface="Arial"/>
              </a:rPr>
              <a:t>analytics</a:t>
            </a:r>
            <a:r>
              <a:rPr dirty="0" sz="750" spc="114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reporting,</a:t>
            </a:r>
            <a:r>
              <a:rPr dirty="0" sz="750" spc="114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and</a:t>
            </a:r>
            <a:r>
              <a:rPr dirty="0" sz="750" spc="114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strategic</a:t>
            </a:r>
            <a:r>
              <a:rPr dirty="0" sz="750" spc="114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recommendations.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8043" y="8104616"/>
            <a:ext cx="3845560" cy="550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4799"/>
              </a:lnSpc>
              <a:spcBef>
                <a:spcPts val="95"/>
              </a:spcBef>
            </a:pPr>
            <a:r>
              <a:rPr dirty="0" sz="750" b="1">
                <a:latin typeface="Arial"/>
                <a:cs typeface="Arial"/>
              </a:rPr>
              <a:t>Letter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of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Recommendation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—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The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Media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Content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House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(Brand: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The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Fourth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Axis), Kolkata</a:t>
            </a:r>
            <a:endParaRPr sz="750">
              <a:latin typeface="Arial"/>
              <a:cs typeface="Arial"/>
            </a:endParaRPr>
          </a:p>
          <a:p>
            <a:pPr algn="ctr" marL="107950" marR="73025">
              <a:lnSpc>
                <a:spcPct val="114799"/>
              </a:lnSpc>
            </a:pPr>
            <a:r>
              <a:rPr dirty="0" sz="750" b="1">
                <a:latin typeface="Arial"/>
                <a:cs typeface="Arial"/>
              </a:rPr>
              <a:t>Completed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4-week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internship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as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Social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Media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Analyst,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recognized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strong </a:t>
            </a:r>
            <a:r>
              <a:rPr dirty="0" sz="750" b="1">
                <a:latin typeface="Arial"/>
                <a:cs typeface="Arial"/>
              </a:rPr>
              <a:t>analytical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ability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and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effective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support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monitoring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performance,</a:t>
            </a:r>
            <a:r>
              <a:rPr dirty="0" sz="750" spc="8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analysing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6585" y="162772"/>
            <a:ext cx="2868930" cy="15468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950" spc="-2530"/>
              <a:t>PROJECT</a:t>
            </a:r>
            <a:endParaRPr sz="9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1894555"/>
            <a:ext cx="71836" cy="718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2244758"/>
            <a:ext cx="71836" cy="718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2594960"/>
            <a:ext cx="71836" cy="718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2945163"/>
            <a:ext cx="71836" cy="718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3295365"/>
            <a:ext cx="71836" cy="718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3645568"/>
            <a:ext cx="71836" cy="7183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980213" y="4489646"/>
            <a:ext cx="5080" cy="27305"/>
          </a:xfrm>
          <a:custGeom>
            <a:avLst/>
            <a:gdLst/>
            <a:ahLst/>
            <a:cxnLst/>
            <a:rect l="l" t="t" r="r" b="b"/>
            <a:pathLst>
              <a:path w="5079" h="27304">
                <a:moveTo>
                  <a:pt x="4920" y="26938"/>
                </a:moveTo>
                <a:lnTo>
                  <a:pt x="0" y="26938"/>
                </a:lnTo>
                <a:lnTo>
                  <a:pt x="0" y="0"/>
                </a:lnTo>
                <a:lnTo>
                  <a:pt x="4920" y="0"/>
                </a:lnTo>
                <a:lnTo>
                  <a:pt x="4920" y="26938"/>
                </a:lnTo>
                <a:close/>
              </a:path>
            </a:pathLst>
          </a:custGeom>
          <a:solidFill>
            <a:srgbClr val="D3D0C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36" y="5100256"/>
            <a:ext cx="71836" cy="718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036" y="5450459"/>
            <a:ext cx="71836" cy="718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036" y="5800661"/>
            <a:ext cx="71836" cy="718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036" y="6150864"/>
            <a:ext cx="71836" cy="7183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980213" y="6994942"/>
            <a:ext cx="5080" cy="27305"/>
          </a:xfrm>
          <a:custGeom>
            <a:avLst/>
            <a:gdLst/>
            <a:ahLst/>
            <a:cxnLst/>
            <a:rect l="l" t="t" r="r" b="b"/>
            <a:pathLst>
              <a:path w="5079" h="27304">
                <a:moveTo>
                  <a:pt x="4920" y="26938"/>
                </a:moveTo>
                <a:lnTo>
                  <a:pt x="0" y="26938"/>
                </a:lnTo>
                <a:lnTo>
                  <a:pt x="0" y="0"/>
                </a:lnTo>
                <a:lnTo>
                  <a:pt x="4920" y="0"/>
                </a:lnTo>
                <a:lnTo>
                  <a:pt x="4920" y="26938"/>
                </a:lnTo>
                <a:close/>
              </a:path>
            </a:pathLst>
          </a:custGeom>
          <a:solidFill>
            <a:srgbClr val="D3D0C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036" y="7605552"/>
            <a:ext cx="71836" cy="7183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036" y="7955754"/>
            <a:ext cx="71836" cy="7183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036" y="8305957"/>
            <a:ext cx="71836" cy="7183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7036" y="9006362"/>
            <a:ext cx="71836" cy="7183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99387" y="1689693"/>
            <a:ext cx="15723235" cy="748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0185" marR="7832090">
              <a:lnSpc>
                <a:spcPct val="117800"/>
              </a:lnSpc>
              <a:spcBef>
                <a:spcPts val="95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95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Process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ClickUp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Design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Easil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</a:t>
            </a:r>
            <a:endParaRPr sz="1950">
              <a:latin typeface="Microsoft Sans Serif"/>
              <a:cs typeface="Microsoft Sans Serif"/>
            </a:endParaRPr>
          </a:p>
          <a:p>
            <a:pPr marL="210185">
              <a:lnSpc>
                <a:spcPct val="100000"/>
              </a:lnSpc>
              <a:spcBef>
                <a:spcPts val="415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CRM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HubSpot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</a:t>
            </a:r>
            <a:endParaRPr sz="1950">
              <a:latin typeface="Microsoft Sans Serif"/>
              <a:cs typeface="Microsoft Sans Serif"/>
            </a:endParaRPr>
          </a:p>
          <a:p>
            <a:pPr marL="210185" marR="6601459">
              <a:lnSpc>
                <a:spcPct val="117800"/>
              </a:lnSpc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Create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5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Tracker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using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Google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Sheets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Search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Engine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(SEO)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Squarespace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520">
                <a:solidFill>
                  <a:srgbClr val="D3D0CB"/>
                </a:solidFill>
                <a:latin typeface="Microsoft Sans Serif"/>
                <a:cs typeface="Microsoft Sans Serif"/>
              </a:rPr>
              <a:t>–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Coursera(guided)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215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ACADEMIC</a:t>
            </a:r>
            <a:r>
              <a:rPr dirty="0" u="sng" sz="2150" spc="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15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PROJECT</a:t>
            </a:r>
            <a:r>
              <a:rPr dirty="0" u="sng" sz="2150" spc="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sz="2150" spc="-25" b="1">
                <a:solidFill>
                  <a:srgbClr val="D3D0CB"/>
                </a:solidFill>
                <a:latin typeface="Arial"/>
                <a:cs typeface="Arial"/>
              </a:rPr>
              <a:t>(</a:t>
            </a:r>
            <a:r>
              <a:rPr dirty="0" u="sng" sz="2150" spc="-25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1</a:t>
            </a:r>
            <a:r>
              <a:rPr dirty="0" sz="2150" spc="-25" b="1">
                <a:solidFill>
                  <a:srgbClr val="D3D0CB"/>
                </a:solidFill>
                <a:latin typeface="Arial"/>
                <a:cs typeface="Arial"/>
              </a:rPr>
              <a:t>)</a:t>
            </a:r>
            <a:endParaRPr sz="215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390"/>
              </a:spcBef>
            </a:pP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Nomad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Nibs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—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Digital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Marketing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&amp;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E-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commerce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Project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|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spc="-20" b="1" i="1">
                <a:solidFill>
                  <a:srgbClr val="D3D0CB"/>
                </a:solidFill>
                <a:latin typeface="Arial"/>
                <a:cs typeface="Arial"/>
              </a:rPr>
              <a:t>2026</a:t>
            </a:r>
            <a:endParaRPr sz="215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450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Worked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part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five-member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develop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brand’s</a:t>
            </a:r>
            <a:r>
              <a:rPr dirty="0" sz="1950" spc="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presence.</a:t>
            </a:r>
            <a:endParaRPr sz="1950">
              <a:latin typeface="Microsoft Sans Serif"/>
              <a:cs typeface="Microsoft Sans Serif"/>
            </a:endParaRPr>
          </a:p>
          <a:p>
            <a:pPr marL="210185" marR="4341495">
              <a:lnSpc>
                <a:spcPct val="117800"/>
              </a:lnSpc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Created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managed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Nomad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Nibs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LinkedIn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page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support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communication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visibility.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Contributed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development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website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palm-oil-free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vegan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chips.</a:t>
            </a:r>
            <a:endParaRPr sz="1950">
              <a:latin typeface="Microsoft Sans Serif"/>
              <a:cs typeface="Microsoft Sans Serif"/>
            </a:endParaRPr>
          </a:p>
          <a:p>
            <a:pPr marL="210185">
              <a:lnSpc>
                <a:spcPct val="100000"/>
              </a:lnSpc>
              <a:spcBef>
                <a:spcPts val="420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Link: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950" spc="-1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7"/>
              </a:rPr>
              <a:t>ht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  <a:hlinkClick r:id="rId7"/>
              </a:rPr>
              <a:t>t</a:t>
            </a:r>
            <a:r>
              <a:rPr dirty="0" u="sng" sz="1950" spc="-1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7"/>
              </a:rPr>
              <a:t>ps://www.nomadnibs.in/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215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ACADEMIC</a:t>
            </a:r>
            <a:r>
              <a:rPr dirty="0" u="sng" sz="2150" spc="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15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PROJECT</a:t>
            </a:r>
            <a:r>
              <a:rPr dirty="0" u="sng" sz="2150" spc="3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 </a:t>
            </a:r>
            <a:r>
              <a:rPr dirty="0" sz="2150" spc="-25" b="1">
                <a:solidFill>
                  <a:srgbClr val="D3D0CB"/>
                </a:solidFill>
                <a:latin typeface="Arial"/>
                <a:cs typeface="Arial"/>
              </a:rPr>
              <a:t>(</a:t>
            </a:r>
            <a:r>
              <a:rPr dirty="0" u="sng" sz="2150" spc="-25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2</a:t>
            </a:r>
            <a:r>
              <a:rPr dirty="0" sz="2150" spc="-25" b="1">
                <a:solidFill>
                  <a:srgbClr val="D3D0CB"/>
                </a:solidFill>
                <a:latin typeface="Arial"/>
                <a:cs typeface="Arial"/>
              </a:rPr>
              <a:t>)</a:t>
            </a:r>
            <a:endParaRPr sz="215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390"/>
              </a:spcBef>
            </a:pP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Desi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Protein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—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Brand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Management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&amp;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E-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commerce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Project</a:t>
            </a:r>
            <a:r>
              <a:rPr dirty="0" sz="2150" spc="-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b="1" i="1">
                <a:solidFill>
                  <a:srgbClr val="D3D0CB"/>
                </a:solidFill>
                <a:latin typeface="Arial"/>
                <a:cs typeface="Arial"/>
              </a:rPr>
              <a:t>|</a:t>
            </a:r>
            <a:r>
              <a:rPr dirty="0" sz="2150" spc="-1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150" spc="-20" b="1" i="1">
                <a:solidFill>
                  <a:srgbClr val="D3D0CB"/>
                </a:solidFill>
                <a:latin typeface="Arial"/>
                <a:cs typeface="Arial"/>
              </a:rPr>
              <a:t>2026</a:t>
            </a:r>
            <a:endParaRPr sz="2150">
              <a:latin typeface="Arial"/>
              <a:cs typeface="Arial"/>
            </a:endParaRPr>
          </a:p>
          <a:p>
            <a:pPr marL="210185" marR="2301875">
              <a:lnSpc>
                <a:spcPct val="117800"/>
              </a:lnSpc>
              <a:spcBef>
                <a:spcPts val="35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Conceptualized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digital-first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protein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offering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products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inspired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Indian/Desi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flavors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consumer</a:t>
            </a:r>
            <a:r>
              <a:rPr dirty="0" sz="195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preferences.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Developed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website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focused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positioning,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product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presentation,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95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experience.</a:t>
            </a:r>
            <a:endParaRPr sz="1950">
              <a:latin typeface="Microsoft Sans Serif"/>
              <a:cs typeface="Microsoft Sans Serif"/>
            </a:endParaRPr>
          </a:p>
          <a:p>
            <a:pPr marL="210185" marR="5080">
              <a:lnSpc>
                <a:spcPct val="117800"/>
              </a:lnSpc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Applied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marketing,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consumer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behavior,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branding,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principles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translate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concept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5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cohesive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5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D3D0CB"/>
                </a:solidFill>
                <a:latin typeface="Microsoft Sans Serif"/>
                <a:cs typeface="Microsoft Sans Serif"/>
              </a:rPr>
              <a:t>business proposition.</a:t>
            </a:r>
            <a:endParaRPr sz="1950">
              <a:latin typeface="Microsoft Sans Serif"/>
              <a:cs typeface="Microsoft Sans Serif"/>
            </a:endParaRPr>
          </a:p>
          <a:p>
            <a:pPr marL="210185">
              <a:lnSpc>
                <a:spcPct val="100000"/>
              </a:lnSpc>
              <a:spcBef>
                <a:spcPts val="415"/>
              </a:spcBef>
            </a:pP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195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</a:rPr>
              <a:t>Link:</a:t>
            </a:r>
            <a:r>
              <a:rPr dirty="0" sz="195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95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8"/>
              </a:rPr>
              <a:t>ht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  <a:hlinkClick r:id="rId8"/>
              </a:rPr>
              <a:t>t</a:t>
            </a:r>
            <a:r>
              <a:rPr dirty="0" u="sng" sz="195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8"/>
              </a:rPr>
              <a:t>ps://des</a:t>
            </a:r>
            <a:r>
              <a:rPr dirty="0" sz="1950">
                <a:solidFill>
                  <a:srgbClr val="D3D0CB"/>
                </a:solidFill>
                <a:latin typeface="Microsoft Sans Serif"/>
                <a:cs typeface="Microsoft Sans Serif"/>
                <a:hlinkClick r:id="rId8"/>
              </a:rPr>
              <a:t>i</a:t>
            </a:r>
            <a:r>
              <a:rPr dirty="0" u="sng" sz="195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8"/>
              </a:rPr>
              <a:t>protein-</a:t>
            </a:r>
            <a:r>
              <a:rPr dirty="0" u="sng" sz="1950" spc="-10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Microsoft Sans Serif"/>
                <a:cs typeface="Microsoft Sans Serif"/>
                <a:hlinkClick r:id="rId8"/>
              </a:rPr>
              <a:t>preview.preview.emergentagent.com/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739014" y="9414874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9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9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000" y="9512282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560"/>
              <a:t>SOCIAL</a:t>
            </a:r>
            <a:r>
              <a:rPr dirty="0" spc="-1085"/>
              <a:t> </a:t>
            </a:r>
            <a:r>
              <a:rPr dirty="0" spc="-1515"/>
              <a:t>IMMERSION</a:t>
            </a:r>
            <a:r>
              <a:rPr dirty="0" spc="-1090"/>
              <a:t> </a:t>
            </a:r>
            <a:r>
              <a:rPr dirty="0" spc="-1880"/>
              <a:t>PROGRAM</a:t>
            </a:r>
            <a:r>
              <a:rPr dirty="0" spc="-1090"/>
              <a:t> </a:t>
            </a:r>
            <a:r>
              <a:rPr dirty="0" spc="-965"/>
              <a:t>(SIP)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772" y="4365917"/>
            <a:ext cx="72391" cy="723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550" y="5420125"/>
            <a:ext cx="81441" cy="814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550" y="6125947"/>
            <a:ext cx="81441" cy="814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550" y="6831769"/>
            <a:ext cx="81441" cy="814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550" y="7537590"/>
            <a:ext cx="81441" cy="814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772" y="8247936"/>
            <a:ext cx="72391" cy="723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9847" y="1689193"/>
            <a:ext cx="16802100" cy="743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4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part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JAGSoM's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Immersion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Programme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(SIP)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mandatory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field-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capstone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PGDM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curriculum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led</a:t>
            </a:r>
            <a:r>
              <a:rPr dirty="0" sz="2000" spc="4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0">
                <a:solidFill>
                  <a:srgbClr val="D3D0CB"/>
                </a:solidFill>
                <a:latin typeface="Microsoft Sans Serif"/>
                <a:cs typeface="Microsoft Sans Serif"/>
              </a:rPr>
              <a:t>a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analytics-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driven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intervention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Prime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Educational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20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Trust,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grassroots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NGO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Puducherry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running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Janani</a:t>
            </a:r>
            <a:r>
              <a:rPr dirty="0" sz="20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Home</a:t>
            </a:r>
            <a:r>
              <a:rPr dirty="0" sz="20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D3D0CB"/>
                </a:solidFill>
                <a:latin typeface="Microsoft Sans Serif"/>
                <a:cs typeface="Microsoft Sans Serif"/>
              </a:rPr>
              <a:t>for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Girls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shelter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several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education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initiatives.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Over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10-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day,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on-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ground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engagement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Group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10,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we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diagnosed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why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genuinely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high-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impact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organisation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was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struggling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convert its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ground-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level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work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donor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visibility and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funding,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then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designed and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delivered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self-sustaining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operating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system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2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Trust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could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run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20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its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own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long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after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we</a:t>
            </a:r>
            <a:r>
              <a:rPr dirty="0" sz="20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left.</a:t>
            </a:r>
            <a:r>
              <a:rPr dirty="0" sz="2000" spc="1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This</a:t>
            </a:r>
            <a:r>
              <a:rPr dirty="0" sz="20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case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study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captures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problem,</a:t>
            </a:r>
            <a:r>
              <a:rPr dirty="0" sz="20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my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approach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diagnosing</a:t>
            </a:r>
            <a:r>
              <a:rPr dirty="0" sz="20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solving it, what I personally built, and what it demonstrates about my capability in marketing strategy,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data-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driven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decision-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making, and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stakeholder-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centred</a:t>
            </a:r>
            <a:r>
              <a:rPr dirty="0" sz="20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execution.</a:t>
            </a:r>
            <a:endParaRPr sz="2000">
              <a:latin typeface="Microsoft Sans Serif"/>
              <a:cs typeface="Microsoft Sans Serif"/>
            </a:endParaRPr>
          </a:p>
          <a:p>
            <a:pPr algn="just" marL="443230" marR="5080">
              <a:lnSpc>
                <a:spcPct val="115799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2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problem: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Grassroots</a:t>
            </a:r>
            <a:r>
              <a:rPr dirty="0" sz="2000" spc="2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NGOs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India</a:t>
            </a:r>
            <a:r>
              <a:rPr dirty="0" sz="2000" spc="2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operate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under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"capability-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visibility</a:t>
            </a:r>
            <a:r>
              <a:rPr dirty="0" sz="2000" spc="2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gap"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organisations</a:t>
            </a:r>
            <a:r>
              <a:rPr dirty="0" sz="2000" spc="2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doing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frontline</a:t>
            </a:r>
            <a:r>
              <a:rPr dirty="0" sz="2000" spc="2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work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(shelters,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tailoring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centres,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evening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schools)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simply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don't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have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bandwidth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in-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house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work</a:t>
            </a:r>
            <a:r>
              <a:rPr dirty="0" sz="20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convincingly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funders.</a:t>
            </a:r>
            <a:endParaRPr sz="2000">
              <a:latin typeface="Microsoft Sans Serif"/>
              <a:cs typeface="Microsoft Sans Serif"/>
            </a:endParaRPr>
          </a:p>
          <a:p>
            <a:pPr marL="873760" marR="5080">
              <a:lnSpc>
                <a:spcPct val="115799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Diagnostic</a:t>
            </a:r>
            <a:r>
              <a:rPr dirty="0" sz="2000" spc="1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findings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our</a:t>
            </a:r>
            <a:r>
              <a:rPr dirty="0" sz="2000" spc="1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situation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analysis:10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active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fundraising</a:t>
            </a:r>
            <a:r>
              <a:rPr dirty="0" sz="2000" spc="1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projects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GlobalGiving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were</a:t>
            </a:r>
            <a:r>
              <a:rPr dirty="0" sz="2000" spc="1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static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rarely</a:t>
            </a:r>
            <a:r>
              <a:rPr dirty="0" sz="2000" spc="1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updated,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causing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weak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international</a:t>
            </a:r>
            <a:r>
              <a:rPr dirty="0" sz="20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donor</a:t>
            </a:r>
            <a:r>
              <a:rPr dirty="0" sz="20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conversion</a:t>
            </a:r>
            <a:endParaRPr sz="2000">
              <a:latin typeface="Microsoft Sans Serif"/>
              <a:cs typeface="Microsoft Sans Serif"/>
            </a:endParaRPr>
          </a:p>
          <a:p>
            <a:pPr marL="873760" marR="5080">
              <a:lnSpc>
                <a:spcPct val="115799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Instagram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Facebook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presence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existed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but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posted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irregularly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no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cohesive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brand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narrative,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missing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younger,</a:t>
            </a:r>
            <a:r>
              <a:rPr dirty="0" sz="2000" spc="1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digitally-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native</a:t>
            </a:r>
            <a:r>
              <a:rPr dirty="0" sz="2000" spc="1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donors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volunteers</a:t>
            </a:r>
            <a:endParaRPr sz="2000">
              <a:latin typeface="Microsoft Sans Serif"/>
              <a:cs typeface="Microsoft Sans Serif"/>
            </a:endParaRPr>
          </a:p>
          <a:p>
            <a:pPr marL="873760" marR="5080">
              <a:lnSpc>
                <a:spcPct val="115799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Student</a:t>
            </a:r>
            <a:r>
              <a:rPr dirty="0" sz="20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beneficiary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evening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schools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lived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fragmented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manual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spreadsheets,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slowing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audit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increasing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error 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risk</a:t>
            </a:r>
            <a:endParaRPr sz="2000">
              <a:latin typeface="Microsoft Sans Serif"/>
              <a:cs typeface="Microsoft Sans Serif"/>
            </a:endParaRPr>
          </a:p>
          <a:p>
            <a:pPr marL="873760" marR="5080">
              <a:lnSpc>
                <a:spcPct val="115799"/>
              </a:lnSpc>
            </a:pP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No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repeatable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process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existed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approaching</a:t>
            </a:r>
            <a:r>
              <a:rPr dirty="0" sz="20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departments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Puducherry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 Tamil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Nadu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outreach</a:t>
            </a:r>
            <a:r>
              <a:rPr dirty="0" sz="20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was</a:t>
            </a:r>
            <a:r>
              <a:rPr dirty="0" sz="20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reactive,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not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 strategic</a:t>
            </a:r>
            <a:endParaRPr sz="2000">
              <a:latin typeface="Microsoft Sans Serif"/>
              <a:cs typeface="Microsoft Sans Serif"/>
            </a:endParaRPr>
          </a:p>
          <a:p>
            <a:pPr algn="just" marL="443230" marR="5080">
              <a:lnSpc>
                <a:spcPct val="115799"/>
              </a:lnSpc>
            </a:pP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Four-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pronged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problem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definition:</a:t>
            </a:r>
            <a:r>
              <a:rPr dirty="0" sz="2000" spc="3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Fragmented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Presence,</a:t>
            </a:r>
            <a:r>
              <a:rPr dirty="0" sz="2000" spc="3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Silos,</a:t>
            </a:r>
            <a:r>
              <a:rPr dirty="0" sz="2000" spc="3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Non-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Standardised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Outreach,</a:t>
            </a:r>
            <a:r>
              <a:rPr dirty="0" sz="2000" spc="3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3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D3D0CB"/>
                </a:solidFill>
                <a:latin typeface="Microsoft Sans Serif"/>
                <a:cs typeface="Microsoft Sans Serif"/>
              </a:rPr>
              <a:t>most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strategically important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insight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1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 Knowledge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Perishability: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every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past intern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volunteer brought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temporary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skills that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left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with them,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leaving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Prime</a:t>
            </a:r>
            <a:r>
              <a:rPr dirty="0" sz="2000" spc="-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Trust</a:t>
            </a:r>
            <a:r>
              <a:rPr dirty="0" sz="20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structurally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incapable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compounding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its</a:t>
            </a:r>
            <a:r>
              <a:rPr dirty="0" sz="20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over</a:t>
            </a:r>
            <a:r>
              <a:rPr dirty="0" sz="20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D3D0CB"/>
                </a:solidFill>
                <a:latin typeface="Microsoft Sans Serif"/>
                <a:cs typeface="Microsoft Sans Serif"/>
              </a:rPr>
              <a:t>time.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6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6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955"/>
              <a:t>(SIP)</a:t>
            </a:r>
            <a:r>
              <a:rPr dirty="0" spc="-1105"/>
              <a:t> </a:t>
            </a:r>
            <a:r>
              <a:rPr dirty="0" spc="-1140"/>
              <a:t>-</a:t>
            </a:r>
            <a:r>
              <a:rPr dirty="0" spc="-1105"/>
              <a:t> </a:t>
            </a:r>
            <a:r>
              <a:rPr dirty="0" spc="-1820"/>
              <a:t>CONTINUATION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097" y="3219353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097" y="4552853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909" y="5214840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909" y="5881590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909" y="6548340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909" y="7215090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097" y="7886603"/>
            <a:ext cx="66675" cy="666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9847" y="1683149"/>
            <a:ext cx="17097375" cy="769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Rather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defaulting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obvious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short-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term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fix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simply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managing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NGO's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accounts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visit's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duration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pushed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toward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solution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that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would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outlive</a:t>
            </a:r>
            <a:r>
              <a:rPr dirty="0" sz="1900" spc="1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our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presence.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We</a:t>
            </a:r>
            <a:r>
              <a:rPr dirty="0" sz="1900" spc="1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evaluated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three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alternatives</a:t>
            </a:r>
            <a:r>
              <a:rPr dirty="0" sz="1900" spc="1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through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formal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Techno-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Economic</a:t>
            </a:r>
            <a:r>
              <a:rPr dirty="0" sz="1900" spc="1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Viability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(TEV)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framework,</a:t>
            </a:r>
            <a:r>
              <a:rPr dirty="0" sz="1900" spc="1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scoring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each</a:t>
            </a:r>
            <a:r>
              <a:rPr dirty="0" sz="1900" spc="1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on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feasibility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economic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viability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Trust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JAGSoM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was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evidence-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rather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opinion-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structured,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quantified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decision-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making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approach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now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default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whenever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choosing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between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initiatives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competing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900" spc="-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claims.</a:t>
            </a:r>
            <a:endParaRPr sz="1900">
              <a:latin typeface="Microsoft Sans Serif"/>
              <a:cs typeface="Microsoft Sans Serif"/>
            </a:endParaRPr>
          </a:p>
          <a:p>
            <a:pPr algn="just" marL="42164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Alternatives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evaluated: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Direct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(fast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but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purely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temporary;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scored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lowest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sustainability)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Professional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Production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(technically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sound,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economically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unviable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Trust)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Sustainable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Building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(recommended)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durable,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transferable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assets: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9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media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handbook,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templates,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automated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Excel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dashboards,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video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tutorials.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Scored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92/100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TEV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matrix,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driven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zero</a:t>
            </a:r>
            <a:r>
              <a:rPr dirty="0" sz="19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capital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expenditure,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zero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recurring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cost,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direct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resolution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knowledge-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perishability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root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cause.</a:t>
            </a:r>
            <a:endParaRPr sz="1900">
              <a:latin typeface="Microsoft Sans Serif"/>
              <a:cs typeface="Microsoft Sans Serif"/>
            </a:endParaRPr>
          </a:p>
          <a:p>
            <a:pPr algn="just" marL="42164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final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solution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Prime</a:t>
            </a:r>
            <a:r>
              <a:rPr dirty="0" sz="1900" spc="2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Trust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Empowerment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Suite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(bundling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all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three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evaluated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options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capacity-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building,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revenue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generation,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brand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visibility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were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addressed</a:t>
            </a:r>
            <a:r>
              <a:rPr dirty="0" sz="19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simultaneously):</a:t>
            </a:r>
            <a:endParaRPr sz="1900">
              <a:latin typeface="Microsoft Sans Serif"/>
              <a:cs typeface="Microsoft Sans Serif"/>
            </a:endParaRPr>
          </a:p>
          <a:p>
            <a:pPr marL="83058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Skill</a:t>
            </a:r>
            <a:r>
              <a:rPr dirty="0" sz="1900" spc="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Tutorial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Video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Library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10+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screen-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capture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tutorials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Excel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(donor/student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management),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PowerPoint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(donor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presentations),</a:t>
            </a:r>
            <a:r>
              <a:rPr dirty="0" sz="19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Canva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(social</a:t>
            </a:r>
            <a:r>
              <a:rPr dirty="0" sz="19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content),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built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9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tools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already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NGO's</a:t>
            </a:r>
            <a:r>
              <a:rPr dirty="0" sz="19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hardware</a:t>
            </a:r>
            <a:endParaRPr sz="1900">
              <a:latin typeface="Microsoft Sans Serif"/>
              <a:cs typeface="Microsoft Sans Serif"/>
            </a:endParaRPr>
          </a:p>
          <a:p>
            <a:pPr marL="830580" marR="5080">
              <a:lnSpc>
                <a:spcPct val="115100"/>
              </a:lnSpc>
              <a:spcBef>
                <a:spcPts val="5"/>
              </a:spcBef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Usage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Guide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NGO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Staff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practical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ChatGPT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Perplexity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drafting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reports,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newsletters,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donor</a:t>
            </a:r>
            <a:r>
              <a:rPr dirty="0" sz="1900" spc="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correspondence,</a:t>
            </a:r>
            <a:r>
              <a:rPr dirty="0" sz="19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positioning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force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multiplier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two-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person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admin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endParaRPr sz="1900">
              <a:latin typeface="Microsoft Sans Serif"/>
              <a:cs typeface="Microsoft Sans Serif"/>
            </a:endParaRPr>
          </a:p>
          <a:p>
            <a:pPr marL="83058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Outreach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Toolkit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SOP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contact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database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departments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Puducherry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Tamil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Nadu,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templates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for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all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10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Trust's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projects,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aligned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Section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135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Companies</a:t>
            </a:r>
            <a:r>
              <a:rPr dirty="0" sz="19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Act</a:t>
            </a:r>
            <a:endParaRPr sz="1900">
              <a:latin typeface="Microsoft Sans Serif"/>
              <a:cs typeface="Microsoft Sans Serif"/>
            </a:endParaRPr>
          </a:p>
          <a:p>
            <a:pPr marL="83058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Instagram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Strategy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Social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Media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Handbook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storytelling-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first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framework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ready-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to-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edit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Canva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templates,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shifting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generic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"event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photos"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donor-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resonant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"impact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stories,"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staff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run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independently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free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tools</a:t>
            </a:r>
            <a:endParaRPr sz="1900">
              <a:latin typeface="Microsoft Sans Serif"/>
              <a:cs typeface="Microsoft Sans Serif"/>
            </a:endParaRPr>
          </a:p>
          <a:p>
            <a:pPr algn="just" marL="421640" marR="5080">
              <a:lnSpc>
                <a:spcPct val="1151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Measured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impact: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delivered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fully</a:t>
            </a:r>
            <a:r>
              <a:rPr dirty="0" sz="1900" spc="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TEV-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scored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(92/100)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rather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unstructured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suggestions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converted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ad-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hoc,</a:t>
            </a:r>
            <a:r>
              <a:rPr dirty="0" sz="1900" spc="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founder-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dependent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presence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documented,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repeatable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system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produced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ready-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to-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send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proposals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all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10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live</a:t>
            </a:r>
            <a:r>
              <a:rPr dirty="0" sz="1900" spc="2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projects,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each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meeting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statutory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1900" spc="22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55">
                <a:solidFill>
                  <a:srgbClr val="D3D0CB"/>
                </a:solidFill>
                <a:latin typeface="Microsoft Sans Serif"/>
                <a:cs typeface="Microsoft Sans Serif"/>
              </a:rPr>
              <a:t>·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embedded</a:t>
            </a:r>
            <a:r>
              <a:rPr dirty="0" sz="1900" spc="1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daily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NGO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zero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cost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received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formal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Letter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1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Appreciation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Prime</a:t>
            </a:r>
            <a:r>
              <a:rPr dirty="0" sz="1900" spc="2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Trust,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project's</a:t>
            </a:r>
            <a:r>
              <a:rPr dirty="0" sz="19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LinkedIn</a:t>
            </a:r>
            <a:r>
              <a:rPr dirty="0" sz="1900" spc="2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reflection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featured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JAGSoM's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SIP</a:t>
            </a:r>
            <a:r>
              <a:rPr dirty="0" sz="1900" spc="3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2026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cohort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showcase.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Because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intervention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zero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capital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expenditure</a:t>
            </a:r>
            <a:r>
              <a:rPr dirty="0" sz="1900" spc="3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zero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recurring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cost,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its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impact</a:t>
            </a:r>
            <a:r>
              <a:rPr dirty="0" sz="1900" spc="3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is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structurally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durable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7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Trust's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doesn't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degrade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once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10-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day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window</a:t>
            </a:r>
            <a:r>
              <a:rPr dirty="0" sz="19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closes.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4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4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955"/>
              <a:t>(SIP)</a:t>
            </a:r>
            <a:r>
              <a:rPr dirty="0" spc="-1105"/>
              <a:t> </a:t>
            </a:r>
            <a:r>
              <a:rPr dirty="0" spc="-1140"/>
              <a:t>-</a:t>
            </a:r>
            <a:r>
              <a:rPr dirty="0" spc="-1105"/>
              <a:t> </a:t>
            </a:r>
            <a:r>
              <a:rPr dirty="0" spc="-1820"/>
              <a:t>CONTINUATION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47" y="3759738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47" y="4502688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47" y="5245638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47" y="5988588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47" y="6731538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9847" y="1685695"/>
            <a:ext cx="17097375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reshaped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think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about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purpose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marketing.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Working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directly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children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Janani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Home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Girls</a:t>
            </a:r>
            <a:r>
              <a:rPr dirty="0" sz="2100" spc="3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3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including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facilitating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sensitive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"Good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Touch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Bad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Touch"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session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watching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women</a:t>
            </a:r>
            <a:r>
              <a:rPr dirty="0" sz="21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Akshaya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Tailoring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Centre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build</a:t>
            </a:r>
            <a:r>
              <a:rPr dirty="0" sz="2100" spc="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livelihood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skills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made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stakes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"visibility"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tangible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way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no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classroom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case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study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could.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reframed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well-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Instagram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post</a:t>
            </a:r>
            <a:r>
              <a:rPr dirty="0" sz="2100" spc="4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4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an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automated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sheet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deliverable,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mechanism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which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child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receives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scholarship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school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gets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roof</a:t>
            </a:r>
            <a:r>
              <a:rPr dirty="0" sz="2100" spc="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865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100" spc="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a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shift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marketing-as-commercial-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tool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marketing-as-instrument-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of-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access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now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carry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every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subsequent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brief.</a:t>
            </a:r>
            <a:endParaRPr sz="2100">
              <a:latin typeface="Microsoft Sans Serif"/>
              <a:cs typeface="Microsoft Sans Serif"/>
            </a:endParaRPr>
          </a:p>
          <a:p>
            <a:pPr algn="just" marL="464820" marR="508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21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Analytical: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problem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framing</a:t>
            </a:r>
            <a:r>
              <a:rPr dirty="0" sz="21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via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situation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root-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cause</a:t>
            </a:r>
            <a:r>
              <a:rPr dirty="0" sz="21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breakdown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TEV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quantitatively</a:t>
            </a:r>
            <a:r>
              <a:rPr dirty="0" sz="21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compare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competing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options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translating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resource-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constrained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brief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scoped,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deliverable-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architecture</a:t>
            </a:r>
            <a:endParaRPr sz="2100">
              <a:latin typeface="Microsoft Sans Serif"/>
              <a:cs typeface="Microsoft Sans Serif"/>
            </a:endParaRPr>
          </a:p>
          <a:p>
            <a:pPr algn="just" marL="464820" marR="508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21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Communications: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strategy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storytelling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frameworks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tailored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donor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acquisition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proposal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writing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aligned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to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statutory</a:t>
            </a:r>
            <a:r>
              <a:rPr dirty="0" sz="2100" spc="-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stakeholder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communication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across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NGO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staff,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children,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corporate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CSR</a:t>
            </a:r>
            <a:r>
              <a:rPr dirty="0" sz="21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contacts</a:t>
            </a:r>
            <a:endParaRPr sz="2100">
              <a:latin typeface="Microsoft Sans Serif"/>
              <a:cs typeface="Microsoft Sans Serif"/>
            </a:endParaRPr>
          </a:p>
          <a:p>
            <a:pPr algn="just" marL="464820" marR="508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100" spc="26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Tools: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Excel-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dashboard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automation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applied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use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AI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tools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(ChatGPT,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Perplexity)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3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operational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non-designer-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friendly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Canva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template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built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handover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reuse</a:t>
            </a:r>
            <a:endParaRPr sz="2100">
              <a:latin typeface="Microsoft Sans Serif"/>
              <a:cs typeface="Microsoft Sans Serif"/>
            </a:endParaRPr>
          </a:p>
          <a:p>
            <a:pPr algn="just" marL="464820" marR="508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Leadership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Execution: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field-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execution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under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fixed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10-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day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timeline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knowledge-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transfer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design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built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sustainability</a:t>
            </a:r>
            <a:r>
              <a:rPr dirty="0" sz="21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independence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rather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short-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term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service</a:t>
            </a:r>
            <a:r>
              <a:rPr dirty="0" sz="2100" spc="-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delivery</a:t>
            </a:r>
            <a:endParaRPr sz="2100">
              <a:latin typeface="Microsoft Sans Serif"/>
              <a:cs typeface="Microsoft Sans Serif"/>
            </a:endParaRPr>
          </a:p>
          <a:p>
            <a:pPr algn="just" marL="464820" marR="5080">
              <a:lnSpc>
                <a:spcPct val="116100"/>
              </a:lnSpc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Key learnings: marketing = access, not just promotion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diagnose root causes, not symptoms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 structured decisions</a:t>
            </a:r>
            <a:r>
              <a:rPr dirty="0" sz="21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beat gut calls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 design </a:t>
            </a:r>
            <a:r>
              <a:rPr dirty="0" sz="2100" spc="-25">
                <a:solidFill>
                  <a:srgbClr val="D3D0CB"/>
                </a:solidFill>
                <a:latin typeface="Microsoft Sans Serif"/>
                <a:cs typeface="Microsoft Sans Serif"/>
              </a:rPr>
              <a:t>for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sustainability,</a:t>
            </a:r>
            <a:r>
              <a:rPr dirty="0" sz="21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just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treat</a:t>
            </a:r>
            <a:r>
              <a:rPr dirty="0" sz="21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constraints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design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inputs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adoption</a:t>
            </a:r>
            <a:r>
              <a:rPr dirty="0" sz="21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depends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simplicity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match</a:t>
            </a:r>
            <a:r>
              <a:rPr dirty="0" sz="2100" spc="2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format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people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learn</a:t>
            </a:r>
            <a:r>
              <a:rPr dirty="0" sz="2100" spc="2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">
                <a:solidFill>
                  <a:srgbClr val="D3D0CB"/>
                </a:solidFill>
                <a:latin typeface="Microsoft Sans Serif"/>
                <a:cs typeface="Microsoft Sans Serif"/>
              </a:rPr>
              <a:t>·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ground-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level</a:t>
            </a:r>
            <a:r>
              <a:rPr dirty="0" sz="21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exposure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builds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real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conviction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10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honesty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about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limitations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builds</a:t>
            </a:r>
            <a:r>
              <a:rPr dirty="0" sz="2100" spc="-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credibility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1084" y="1343571"/>
            <a:ext cx="4648199" cy="60388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635"/>
              <a:t>CERTIFICATE</a:t>
            </a:r>
            <a:r>
              <a:rPr dirty="0" spc="-1080"/>
              <a:t> </a:t>
            </a:r>
            <a:r>
              <a:rPr dirty="0" spc="-2080"/>
              <a:t>OF</a:t>
            </a:r>
            <a:r>
              <a:rPr dirty="0" spc="-1080"/>
              <a:t> </a:t>
            </a:r>
            <a:r>
              <a:rPr dirty="0" spc="-1130"/>
              <a:t>SIP</a:t>
            </a:r>
          </a:p>
        </p:txBody>
      </p:sp>
      <p:sp>
        <p:nvSpPr>
          <p:cNvPr id="5" name="object 5"/>
          <p:cNvSpPr/>
          <p:nvPr/>
        </p:nvSpPr>
        <p:spPr>
          <a:xfrm>
            <a:off x="5263794" y="7711109"/>
            <a:ext cx="7760970" cy="1435100"/>
          </a:xfrm>
          <a:custGeom>
            <a:avLst/>
            <a:gdLst/>
            <a:ahLst/>
            <a:cxnLst/>
            <a:rect l="l" t="t" r="r" b="b"/>
            <a:pathLst>
              <a:path w="7760969" h="1435100">
                <a:moveTo>
                  <a:pt x="7760348" y="279400"/>
                </a:moveTo>
                <a:lnTo>
                  <a:pt x="7760081" y="279400"/>
                </a:lnTo>
                <a:lnTo>
                  <a:pt x="7759624" y="266700"/>
                </a:lnTo>
                <a:lnTo>
                  <a:pt x="7758989" y="266700"/>
                </a:lnTo>
                <a:lnTo>
                  <a:pt x="7758163" y="254000"/>
                </a:lnTo>
                <a:lnTo>
                  <a:pt x="7757173" y="254000"/>
                </a:lnTo>
                <a:lnTo>
                  <a:pt x="7756004" y="241300"/>
                </a:lnTo>
                <a:lnTo>
                  <a:pt x="7754658" y="228600"/>
                </a:lnTo>
                <a:lnTo>
                  <a:pt x="7753134" y="228600"/>
                </a:lnTo>
                <a:lnTo>
                  <a:pt x="7751432" y="215900"/>
                </a:lnTo>
                <a:lnTo>
                  <a:pt x="7749565" y="215900"/>
                </a:lnTo>
                <a:lnTo>
                  <a:pt x="7747521" y="203200"/>
                </a:lnTo>
                <a:lnTo>
                  <a:pt x="7745298" y="203200"/>
                </a:lnTo>
                <a:lnTo>
                  <a:pt x="7742910" y="190500"/>
                </a:lnTo>
                <a:lnTo>
                  <a:pt x="7740358" y="190500"/>
                </a:lnTo>
                <a:lnTo>
                  <a:pt x="7737640" y="177800"/>
                </a:lnTo>
                <a:lnTo>
                  <a:pt x="7734744" y="165100"/>
                </a:lnTo>
                <a:lnTo>
                  <a:pt x="7731696" y="165100"/>
                </a:lnTo>
                <a:lnTo>
                  <a:pt x="7728471" y="152400"/>
                </a:lnTo>
                <a:lnTo>
                  <a:pt x="7725092" y="152400"/>
                </a:lnTo>
                <a:lnTo>
                  <a:pt x="7721562" y="139700"/>
                </a:lnTo>
                <a:lnTo>
                  <a:pt x="7717866" y="139700"/>
                </a:lnTo>
                <a:lnTo>
                  <a:pt x="7714031" y="127000"/>
                </a:lnTo>
                <a:lnTo>
                  <a:pt x="7710030" y="127000"/>
                </a:lnTo>
                <a:lnTo>
                  <a:pt x="7705877" y="114300"/>
                </a:lnTo>
                <a:lnTo>
                  <a:pt x="7697152" y="114300"/>
                </a:lnTo>
                <a:lnTo>
                  <a:pt x="7692568" y="101600"/>
                </a:lnTo>
                <a:lnTo>
                  <a:pt x="7687843" y="101600"/>
                </a:lnTo>
                <a:lnTo>
                  <a:pt x="7682992" y="88900"/>
                </a:lnTo>
                <a:lnTo>
                  <a:pt x="7678013" y="88900"/>
                </a:lnTo>
                <a:lnTo>
                  <a:pt x="7672895" y="76200"/>
                </a:lnTo>
                <a:lnTo>
                  <a:pt x="7662278" y="76200"/>
                </a:lnTo>
                <a:lnTo>
                  <a:pt x="7656792" y="63500"/>
                </a:lnTo>
                <a:lnTo>
                  <a:pt x="7651191" y="63500"/>
                </a:lnTo>
                <a:lnTo>
                  <a:pt x="7645463" y="50800"/>
                </a:lnTo>
                <a:lnTo>
                  <a:pt x="7633703" y="50800"/>
                </a:lnTo>
                <a:lnTo>
                  <a:pt x="7627658" y="38100"/>
                </a:lnTo>
                <a:lnTo>
                  <a:pt x="7608951" y="38100"/>
                </a:lnTo>
                <a:lnTo>
                  <a:pt x="7602537" y="25400"/>
                </a:lnTo>
                <a:lnTo>
                  <a:pt x="7582789" y="25400"/>
                </a:lnTo>
                <a:lnTo>
                  <a:pt x="7576058" y="12700"/>
                </a:lnTo>
                <a:lnTo>
                  <a:pt x="7548473" y="12700"/>
                </a:lnTo>
                <a:lnTo>
                  <a:pt x="7541438" y="0"/>
                </a:lnTo>
                <a:lnTo>
                  <a:pt x="218909" y="0"/>
                </a:lnTo>
                <a:lnTo>
                  <a:pt x="211874" y="12700"/>
                </a:lnTo>
                <a:lnTo>
                  <a:pt x="184289" y="12700"/>
                </a:lnTo>
                <a:lnTo>
                  <a:pt x="177558" y="25400"/>
                </a:lnTo>
                <a:lnTo>
                  <a:pt x="157810" y="25400"/>
                </a:lnTo>
                <a:lnTo>
                  <a:pt x="151396" y="38100"/>
                </a:lnTo>
                <a:lnTo>
                  <a:pt x="132689" y="38100"/>
                </a:lnTo>
                <a:lnTo>
                  <a:pt x="126644" y="50800"/>
                </a:lnTo>
                <a:lnTo>
                  <a:pt x="114884" y="50800"/>
                </a:lnTo>
                <a:lnTo>
                  <a:pt x="109156" y="63500"/>
                </a:lnTo>
                <a:lnTo>
                  <a:pt x="103555" y="63500"/>
                </a:lnTo>
                <a:lnTo>
                  <a:pt x="98069" y="76200"/>
                </a:lnTo>
                <a:lnTo>
                  <a:pt x="87452" y="76200"/>
                </a:lnTo>
                <a:lnTo>
                  <a:pt x="82334" y="88900"/>
                </a:lnTo>
                <a:lnTo>
                  <a:pt x="77355" y="88900"/>
                </a:lnTo>
                <a:lnTo>
                  <a:pt x="72491" y="101600"/>
                </a:lnTo>
                <a:lnTo>
                  <a:pt x="67779" y="101600"/>
                </a:lnTo>
                <a:lnTo>
                  <a:pt x="63195" y="114300"/>
                </a:lnTo>
                <a:lnTo>
                  <a:pt x="54470" y="114300"/>
                </a:lnTo>
                <a:lnTo>
                  <a:pt x="50317" y="127000"/>
                </a:lnTo>
                <a:lnTo>
                  <a:pt x="46316" y="127000"/>
                </a:lnTo>
                <a:lnTo>
                  <a:pt x="42481" y="139700"/>
                </a:lnTo>
                <a:lnTo>
                  <a:pt x="38785" y="139700"/>
                </a:lnTo>
                <a:lnTo>
                  <a:pt x="35255" y="152400"/>
                </a:lnTo>
                <a:lnTo>
                  <a:pt x="31877" y="152400"/>
                </a:lnTo>
                <a:lnTo>
                  <a:pt x="28651" y="165100"/>
                </a:lnTo>
                <a:lnTo>
                  <a:pt x="25603" y="165100"/>
                </a:lnTo>
                <a:lnTo>
                  <a:pt x="22707" y="177800"/>
                </a:lnTo>
                <a:lnTo>
                  <a:pt x="19989" y="190500"/>
                </a:lnTo>
                <a:lnTo>
                  <a:pt x="17437" y="190500"/>
                </a:lnTo>
                <a:lnTo>
                  <a:pt x="15049" y="203200"/>
                </a:lnTo>
                <a:lnTo>
                  <a:pt x="12827" y="203200"/>
                </a:lnTo>
                <a:lnTo>
                  <a:pt x="10782" y="215900"/>
                </a:lnTo>
                <a:lnTo>
                  <a:pt x="8902" y="215900"/>
                </a:lnTo>
                <a:lnTo>
                  <a:pt x="7213" y="228600"/>
                </a:lnTo>
                <a:lnTo>
                  <a:pt x="5689" y="228600"/>
                </a:lnTo>
                <a:lnTo>
                  <a:pt x="4343" y="241300"/>
                </a:lnTo>
                <a:lnTo>
                  <a:pt x="3175" y="254000"/>
                </a:lnTo>
                <a:lnTo>
                  <a:pt x="2184" y="254000"/>
                </a:lnTo>
                <a:lnTo>
                  <a:pt x="1358" y="266700"/>
                </a:lnTo>
                <a:lnTo>
                  <a:pt x="723" y="266700"/>
                </a:lnTo>
                <a:lnTo>
                  <a:pt x="266" y="279400"/>
                </a:lnTo>
                <a:lnTo>
                  <a:pt x="0" y="279400"/>
                </a:lnTo>
                <a:lnTo>
                  <a:pt x="0" y="1143000"/>
                </a:lnTo>
                <a:lnTo>
                  <a:pt x="266" y="1155700"/>
                </a:lnTo>
                <a:lnTo>
                  <a:pt x="723" y="1155700"/>
                </a:lnTo>
                <a:lnTo>
                  <a:pt x="1358" y="1168400"/>
                </a:lnTo>
                <a:lnTo>
                  <a:pt x="2171" y="1168400"/>
                </a:lnTo>
                <a:lnTo>
                  <a:pt x="3175" y="1181100"/>
                </a:lnTo>
                <a:lnTo>
                  <a:pt x="4343" y="1181100"/>
                </a:lnTo>
                <a:lnTo>
                  <a:pt x="5689" y="1193800"/>
                </a:lnTo>
                <a:lnTo>
                  <a:pt x="7213" y="1206500"/>
                </a:lnTo>
                <a:lnTo>
                  <a:pt x="8902" y="1206500"/>
                </a:lnTo>
                <a:lnTo>
                  <a:pt x="10782" y="1219200"/>
                </a:lnTo>
                <a:lnTo>
                  <a:pt x="12827" y="1219200"/>
                </a:lnTo>
                <a:lnTo>
                  <a:pt x="15036" y="1231900"/>
                </a:lnTo>
                <a:lnTo>
                  <a:pt x="17424" y="1231900"/>
                </a:lnTo>
                <a:lnTo>
                  <a:pt x="19989" y="1244600"/>
                </a:lnTo>
                <a:lnTo>
                  <a:pt x="22707" y="1244600"/>
                </a:lnTo>
                <a:lnTo>
                  <a:pt x="25603" y="1257300"/>
                </a:lnTo>
                <a:lnTo>
                  <a:pt x="28651" y="1257300"/>
                </a:lnTo>
                <a:lnTo>
                  <a:pt x="31864" y="1270000"/>
                </a:lnTo>
                <a:lnTo>
                  <a:pt x="35242" y="1270000"/>
                </a:lnTo>
                <a:lnTo>
                  <a:pt x="38785" y="1282700"/>
                </a:lnTo>
                <a:lnTo>
                  <a:pt x="42468" y="1282700"/>
                </a:lnTo>
                <a:lnTo>
                  <a:pt x="46316" y="1295400"/>
                </a:lnTo>
                <a:lnTo>
                  <a:pt x="50317" y="1295400"/>
                </a:lnTo>
                <a:lnTo>
                  <a:pt x="54457" y="1308100"/>
                </a:lnTo>
                <a:lnTo>
                  <a:pt x="58750" y="1308100"/>
                </a:lnTo>
                <a:lnTo>
                  <a:pt x="63195" y="1320800"/>
                </a:lnTo>
                <a:lnTo>
                  <a:pt x="67767" y="1320800"/>
                </a:lnTo>
                <a:lnTo>
                  <a:pt x="72491" y="1333500"/>
                </a:lnTo>
                <a:lnTo>
                  <a:pt x="77343" y="1333500"/>
                </a:lnTo>
                <a:lnTo>
                  <a:pt x="82321" y="1346200"/>
                </a:lnTo>
                <a:lnTo>
                  <a:pt x="92684" y="1346200"/>
                </a:lnTo>
                <a:lnTo>
                  <a:pt x="98056" y="1358900"/>
                </a:lnTo>
                <a:lnTo>
                  <a:pt x="103543" y="1358900"/>
                </a:lnTo>
                <a:lnTo>
                  <a:pt x="109143" y="1371600"/>
                </a:lnTo>
                <a:lnTo>
                  <a:pt x="120700" y="1371600"/>
                </a:lnTo>
                <a:lnTo>
                  <a:pt x="126631" y="1384300"/>
                </a:lnTo>
                <a:lnTo>
                  <a:pt x="138823" y="1384300"/>
                </a:lnTo>
                <a:lnTo>
                  <a:pt x="145059" y="1397000"/>
                </a:lnTo>
                <a:lnTo>
                  <a:pt x="164299" y="1397000"/>
                </a:lnTo>
                <a:lnTo>
                  <a:pt x="170891" y="1409700"/>
                </a:lnTo>
                <a:lnTo>
                  <a:pt x="191084" y="1409700"/>
                </a:lnTo>
                <a:lnTo>
                  <a:pt x="197954" y="1422400"/>
                </a:lnTo>
                <a:lnTo>
                  <a:pt x="240284" y="1422400"/>
                </a:lnTo>
                <a:lnTo>
                  <a:pt x="247484" y="1435100"/>
                </a:lnTo>
                <a:lnTo>
                  <a:pt x="7512863" y="1435100"/>
                </a:lnTo>
                <a:lnTo>
                  <a:pt x="7520064" y="1422400"/>
                </a:lnTo>
                <a:lnTo>
                  <a:pt x="7562393" y="1422400"/>
                </a:lnTo>
                <a:lnTo>
                  <a:pt x="7569263" y="1409700"/>
                </a:lnTo>
                <a:lnTo>
                  <a:pt x="7589456" y="1409700"/>
                </a:lnTo>
                <a:lnTo>
                  <a:pt x="7596035" y="1397000"/>
                </a:lnTo>
                <a:lnTo>
                  <a:pt x="7615288" y="1397000"/>
                </a:lnTo>
                <a:lnTo>
                  <a:pt x="7621524" y="1384300"/>
                </a:lnTo>
                <a:lnTo>
                  <a:pt x="7633716" y="1384300"/>
                </a:lnTo>
                <a:lnTo>
                  <a:pt x="7639647" y="1371600"/>
                </a:lnTo>
                <a:lnTo>
                  <a:pt x="7651191" y="1371600"/>
                </a:lnTo>
                <a:lnTo>
                  <a:pt x="7656804" y="1358900"/>
                </a:lnTo>
                <a:lnTo>
                  <a:pt x="7662291" y="1358900"/>
                </a:lnTo>
                <a:lnTo>
                  <a:pt x="7667663" y="1346200"/>
                </a:lnTo>
                <a:lnTo>
                  <a:pt x="7678026" y="1346200"/>
                </a:lnTo>
                <a:lnTo>
                  <a:pt x="7683005" y="1333500"/>
                </a:lnTo>
                <a:lnTo>
                  <a:pt x="7687856" y="1333500"/>
                </a:lnTo>
                <a:lnTo>
                  <a:pt x="7692580" y="1320800"/>
                </a:lnTo>
                <a:lnTo>
                  <a:pt x="7697152" y="1320800"/>
                </a:lnTo>
                <a:lnTo>
                  <a:pt x="7701597" y="1308100"/>
                </a:lnTo>
                <a:lnTo>
                  <a:pt x="7705890" y="1308100"/>
                </a:lnTo>
                <a:lnTo>
                  <a:pt x="7710030" y="1295400"/>
                </a:lnTo>
                <a:lnTo>
                  <a:pt x="7714031" y="1295400"/>
                </a:lnTo>
                <a:lnTo>
                  <a:pt x="7717879" y="1282700"/>
                </a:lnTo>
                <a:lnTo>
                  <a:pt x="7721562" y="1282700"/>
                </a:lnTo>
                <a:lnTo>
                  <a:pt x="7725105" y="1270000"/>
                </a:lnTo>
                <a:lnTo>
                  <a:pt x="7728483" y="1270000"/>
                </a:lnTo>
                <a:lnTo>
                  <a:pt x="7731696" y="1257300"/>
                </a:lnTo>
                <a:lnTo>
                  <a:pt x="7734744" y="1257300"/>
                </a:lnTo>
                <a:lnTo>
                  <a:pt x="7737640" y="1244600"/>
                </a:lnTo>
                <a:lnTo>
                  <a:pt x="7740358" y="1244600"/>
                </a:lnTo>
                <a:lnTo>
                  <a:pt x="7742923" y="1231900"/>
                </a:lnTo>
                <a:lnTo>
                  <a:pt x="7745311" y="1231900"/>
                </a:lnTo>
                <a:lnTo>
                  <a:pt x="7747521" y="1219200"/>
                </a:lnTo>
                <a:lnTo>
                  <a:pt x="7749565" y="1219200"/>
                </a:lnTo>
                <a:lnTo>
                  <a:pt x="7751445" y="1206500"/>
                </a:lnTo>
                <a:lnTo>
                  <a:pt x="7753134" y="1206500"/>
                </a:lnTo>
                <a:lnTo>
                  <a:pt x="7754658" y="1193800"/>
                </a:lnTo>
                <a:lnTo>
                  <a:pt x="7756004" y="1181100"/>
                </a:lnTo>
                <a:lnTo>
                  <a:pt x="7757173" y="1181100"/>
                </a:lnTo>
                <a:lnTo>
                  <a:pt x="7758163" y="1168400"/>
                </a:lnTo>
                <a:lnTo>
                  <a:pt x="7758989" y="1168400"/>
                </a:lnTo>
                <a:lnTo>
                  <a:pt x="7759624" y="1155700"/>
                </a:lnTo>
                <a:lnTo>
                  <a:pt x="7760081" y="1155700"/>
                </a:lnTo>
                <a:lnTo>
                  <a:pt x="7760348" y="1143000"/>
                </a:lnTo>
                <a:lnTo>
                  <a:pt x="7760348" y="27940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13993" y="7762369"/>
            <a:ext cx="7097395" cy="1292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2384" marR="24765">
              <a:lnSpc>
                <a:spcPct val="119200"/>
              </a:lnSpc>
              <a:spcBef>
                <a:spcPts val="90"/>
              </a:spcBef>
            </a:pPr>
            <a:r>
              <a:rPr dirty="0" sz="1300" b="1">
                <a:latin typeface="Arial"/>
                <a:cs typeface="Arial"/>
              </a:rPr>
              <a:t>Certificate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of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Internship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—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Prime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Educational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Social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Trust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&amp;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Janani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Home</a:t>
            </a:r>
            <a:r>
              <a:rPr dirty="0" sz="1300" spc="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for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Girls, </a:t>
            </a:r>
            <a:r>
              <a:rPr dirty="0" sz="1300" b="1">
                <a:latin typeface="Arial"/>
                <a:cs typeface="Arial"/>
              </a:rPr>
              <a:t>Puducherry</a:t>
            </a:r>
            <a:r>
              <a:rPr dirty="0" sz="1300" spc="6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(10–18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Apr</a:t>
            </a:r>
            <a:r>
              <a:rPr dirty="0" sz="1300" spc="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2026)</a:t>
            </a:r>
            <a:endParaRPr sz="1300">
              <a:latin typeface="Arial"/>
              <a:cs typeface="Arial"/>
            </a:endParaRPr>
          </a:p>
          <a:p>
            <a:pPr algn="ctr" marL="12700" marR="5080">
              <a:lnSpc>
                <a:spcPct val="119200"/>
              </a:lnSpc>
            </a:pPr>
            <a:r>
              <a:rPr dirty="0" sz="1300" b="1">
                <a:latin typeface="Arial"/>
                <a:cs typeface="Arial"/>
              </a:rPr>
              <a:t>Completed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9-day</a:t>
            </a:r>
            <a:r>
              <a:rPr dirty="0" sz="1300" spc="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Social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Immersion</a:t>
            </a:r>
            <a:r>
              <a:rPr dirty="0" sz="1300" spc="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Programme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internship</a:t>
            </a:r>
            <a:r>
              <a:rPr dirty="0" sz="1300" spc="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as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part</a:t>
            </a:r>
            <a:r>
              <a:rPr dirty="0" sz="1300" spc="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of</a:t>
            </a:r>
            <a:r>
              <a:rPr dirty="0" sz="1300" spc="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JAGSoM's</a:t>
            </a:r>
            <a:r>
              <a:rPr dirty="0" sz="1300" spc="75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PGDM </a:t>
            </a:r>
            <a:r>
              <a:rPr dirty="0" sz="1300" b="1">
                <a:latin typeface="Arial"/>
                <a:cs typeface="Arial"/>
              </a:rPr>
              <a:t>curriculum,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gaining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experiential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exposure</a:t>
            </a:r>
            <a:r>
              <a:rPr dirty="0" sz="1300" spc="6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to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the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Trust's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social</a:t>
            </a:r>
            <a:r>
              <a:rPr dirty="0" sz="1300" spc="6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work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community </a:t>
            </a:r>
            <a:r>
              <a:rPr dirty="0" sz="1300" b="1">
                <a:latin typeface="Arial"/>
                <a:cs typeface="Arial"/>
              </a:rPr>
              <a:t>development</a:t>
            </a:r>
            <a:r>
              <a:rPr dirty="0" sz="1300" spc="12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activities.</a:t>
            </a:r>
            <a:endParaRPr sz="1300">
              <a:latin typeface="Arial"/>
              <a:cs typeface="Arial"/>
            </a:endParaRPr>
          </a:p>
          <a:p>
            <a:pPr algn="ctr" marL="13335">
              <a:lnSpc>
                <a:spcPct val="100000"/>
              </a:lnSpc>
              <a:spcBef>
                <a:spcPts val="254"/>
              </a:spcBef>
            </a:pPr>
            <a:r>
              <a:rPr dirty="0" sz="350" spc="10" b="1">
                <a:latin typeface="Arial"/>
                <a:cs typeface="Arial"/>
              </a:rPr>
              <a:t>Completed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a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9-day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Social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Immersion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Programme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internship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as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part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of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JAGSoM's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PGDM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curriculum,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gaining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experiential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exposure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to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the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Trust's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social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work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and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community</a:t>
            </a:r>
            <a:r>
              <a:rPr dirty="0" sz="350" spc="40" b="1">
                <a:latin typeface="Arial"/>
                <a:cs typeface="Arial"/>
              </a:rPr>
              <a:t> </a:t>
            </a:r>
            <a:r>
              <a:rPr dirty="0" sz="350" spc="10" b="1">
                <a:latin typeface="Arial"/>
                <a:cs typeface="Arial"/>
              </a:rPr>
              <a:t>development</a:t>
            </a:r>
            <a:r>
              <a:rPr dirty="0" sz="350" spc="45" b="1">
                <a:latin typeface="Arial"/>
                <a:cs typeface="Arial"/>
              </a:rPr>
              <a:t> </a:t>
            </a:r>
            <a:r>
              <a:rPr dirty="0" sz="350" spc="-10" b="1">
                <a:latin typeface="Arial"/>
                <a:cs typeface="Arial"/>
              </a:rPr>
              <a:t>activities.</a:t>
            </a:r>
            <a:endParaRPr sz="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689"/>
              <a:t>RESEARCH</a:t>
            </a:r>
            <a:r>
              <a:rPr dirty="0" spc="-1105"/>
              <a:t> </a:t>
            </a:r>
            <a:r>
              <a:rPr dirty="0" spc="-1495"/>
              <a:t>INCUBATION(RI)</a:t>
            </a: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347" y="6039388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347" y="7410988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/>
              <a:t>As</a:t>
            </a:r>
            <a:r>
              <a:rPr dirty="0" spc="250"/>
              <a:t> </a:t>
            </a:r>
            <a:r>
              <a:rPr dirty="0"/>
              <a:t>part</a:t>
            </a:r>
            <a:r>
              <a:rPr dirty="0" spc="250"/>
              <a:t> </a:t>
            </a:r>
            <a:r>
              <a:rPr dirty="0"/>
              <a:t>of</a:t>
            </a:r>
            <a:r>
              <a:rPr dirty="0" spc="254"/>
              <a:t> </a:t>
            </a:r>
            <a:r>
              <a:rPr dirty="0"/>
              <a:t>my</a:t>
            </a:r>
            <a:r>
              <a:rPr dirty="0" spc="250"/>
              <a:t> </a:t>
            </a:r>
            <a:r>
              <a:rPr dirty="0"/>
              <a:t>Research</a:t>
            </a:r>
            <a:r>
              <a:rPr dirty="0" spc="254"/>
              <a:t> </a:t>
            </a:r>
            <a:r>
              <a:rPr dirty="0"/>
              <a:t>Incubation</a:t>
            </a:r>
            <a:r>
              <a:rPr dirty="0" spc="250"/>
              <a:t> </a:t>
            </a:r>
            <a:r>
              <a:rPr dirty="0"/>
              <a:t>project</a:t>
            </a:r>
            <a:r>
              <a:rPr dirty="0" spc="254"/>
              <a:t> </a:t>
            </a:r>
            <a:r>
              <a:rPr dirty="0"/>
              <a:t>at</a:t>
            </a:r>
            <a:r>
              <a:rPr dirty="0" spc="250"/>
              <a:t> </a:t>
            </a:r>
            <a:r>
              <a:rPr dirty="0"/>
              <a:t>JAGSoM</a:t>
            </a:r>
            <a:r>
              <a:rPr dirty="0" spc="250"/>
              <a:t> </a:t>
            </a:r>
            <a:r>
              <a:rPr dirty="0"/>
              <a:t>(mentored</a:t>
            </a:r>
            <a:r>
              <a:rPr dirty="0" spc="254"/>
              <a:t> </a:t>
            </a:r>
            <a:r>
              <a:rPr dirty="0"/>
              <a:t>by</a:t>
            </a:r>
            <a:r>
              <a:rPr dirty="0" spc="250"/>
              <a:t> </a:t>
            </a:r>
            <a:r>
              <a:rPr dirty="0"/>
              <a:t>Dr.</a:t>
            </a:r>
            <a:r>
              <a:rPr dirty="0" spc="254"/>
              <a:t> </a:t>
            </a:r>
            <a:r>
              <a:rPr dirty="0"/>
              <a:t>Banantika</a:t>
            </a:r>
            <a:r>
              <a:rPr dirty="0" spc="250"/>
              <a:t> </a:t>
            </a:r>
            <a:r>
              <a:rPr dirty="0"/>
              <a:t>Datta),</a:t>
            </a:r>
            <a:r>
              <a:rPr dirty="0" spc="254"/>
              <a:t> </a:t>
            </a:r>
            <a:r>
              <a:rPr dirty="0"/>
              <a:t>I</a:t>
            </a:r>
            <a:r>
              <a:rPr dirty="0" spc="250"/>
              <a:t> </a:t>
            </a:r>
            <a:r>
              <a:rPr dirty="0"/>
              <a:t>designed</a:t>
            </a:r>
            <a:r>
              <a:rPr dirty="0" spc="250"/>
              <a:t> </a:t>
            </a:r>
            <a:r>
              <a:rPr dirty="0"/>
              <a:t>and</a:t>
            </a:r>
            <a:r>
              <a:rPr dirty="0" spc="254"/>
              <a:t> </a:t>
            </a:r>
            <a:r>
              <a:rPr dirty="0"/>
              <a:t>ran</a:t>
            </a:r>
            <a:r>
              <a:rPr dirty="0" spc="250"/>
              <a:t> </a:t>
            </a:r>
            <a:r>
              <a:rPr dirty="0" spc="-50"/>
              <a:t>a </a:t>
            </a:r>
            <a:r>
              <a:rPr dirty="0" spc="-20"/>
              <a:t>firm-</a:t>
            </a:r>
            <a:r>
              <a:rPr dirty="0"/>
              <a:t>level</a:t>
            </a:r>
            <a:r>
              <a:rPr dirty="0" spc="380"/>
              <a:t> </a:t>
            </a:r>
            <a:r>
              <a:rPr dirty="0"/>
              <a:t>empirical</a:t>
            </a:r>
            <a:r>
              <a:rPr dirty="0" spc="380"/>
              <a:t> </a:t>
            </a:r>
            <a:r>
              <a:rPr dirty="0"/>
              <a:t>study</a:t>
            </a:r>
            <a:r>
              <a:rPr dirty="0" spc="385"/>
              <a:t> </a:t>
            </a:r>
            <a:r>
              <a:rPr dirty="0"/>
              <a:t>on</a:t>
            </a:r>
            <a:r>
              <a:rPr dirty="0" spc="380"/>
              <a:t> </a:t>
            </a:r>
            <a:r>
              <a:rPr dirty="0"/>
              <a:t>R&amp;D</a:t>
            </a:r>
            <a:r>
              <a:rPr dirty="0" spc="385"/>
              <a:t> </a:t>
            </a:r>
            <a:r>
              <a:rPr dirty="0"/>
              <a:t>Intensity,</a:t>
            </a:r>
            <a:r>
              <a:rPr dirty="0" spc="380"/>
              <a:t> </a:t>
            </a:r>
            <a:r>
              <a:rPr dirty="0"/>
              <a:t>Digital</a:t>
            </a:r>
            <a:r>
              <a:rPr dirty="0" spc="345"/>
              <a:t> </a:t>
            </a:r>
            <a:r>
              <a:rPr dirty="0"/>
              <a:t>Transformation,</a:t>
            </a:r>
            <a:r>
              <a:rPr dirty="0" spc="380"/>
              <a:t> </a:t>
            </a:r>
            <a:r>
              <a:rPr dirty="0"/>
              <a:t>and</a:t>
            </a:r>
            <a:r>
              <a:rPr dirty="0" spc="385"/>
              <a:t> </a:t>
            </a:r>
            <a:r>
              <a:rPr dirty="0"/>
              <a:t>Export</a:t>
            </a:r>
            <a:r>
              <a:rPr dirty="0" spc="380"/>
              <a:t> </a:t>
            </a:r>
            <a:r>
              <a:rPr dirty="0"/>
              <a:t>Competitiveness:</a:t>
            </a:r>
            <a:r>
              <a:rPr dirty="0" spc="385"/>
              <a:t> </a:t>
            </a:r>
            <a:r>
              <a:rPr dirty="0"/>
              <a:t>Evidence</a:t>
            </a:r>
            <a:r>
              <a:rPr dirty="0" spc="380"/>
              <a:t> </a:t>
            </a:r>
            <a:r>
              <a:rPr dirty="0" spc="-20"/>
              <a:t>from </a:t>
            </a:r>
            <a:r>
              <a:rPr dirty="0"/>
              <a:t>Indian</a:t>
            </a:r>
            <a:r>
              <a:rPr dirty="0" spc="170"/>
              <a:t> </a:t>
            </a:r>
            <a:r>
              <a:rPr dirty="0"/>
              <a:t>Firms.</a:t>
            </a:r>
            <a:r>
              <a:rPr dirty="0" spc="125"/>
              <a:t> </a:t>
            </a:r>
            <a:r>
              <a:rPr dirty="0"/>
              <a:t>The</a:t>
            </a:r>
            <a:r>
              <a:rPr dirty="0" spc="170"/>
              <a:t> </a:t>
            </a:r>
            <a:r>
              <a:rPr dirty="0"/>
              <a:t>core</a:t>
            </a:r>
            <a:r>
              <a:rPr dirty="0" spc="170"/>
              <a:t> </a:t>
            </a:r>
            <a:r>
              <a:rPr dirty="0"/>
              <a:t>question</a:t>
            </a:r>
            <a:r>
              <a:rPr dirty="0" spc="170"/>
              <a:t> </a:t>
            </a:r>
            <a:r>
              <a:rPr dirty="0"/>
              <a:t>carries</a:t>
            </a:r>
            <a:r>
              <a:rPr dirty="0" spc="170"/>
              <a:t> </a:t>
            </a:r>
            <a:r>
              <a:rPr dirty="0"/>
              <a:t>real</a:t>
            </a:r>
            <a:r>
              <a:rPr dirty="0" spc="170"/>
              <a:t> </a:t>
            </a:r>
            <a:r>
              <a:rPr dirty="0"/>
              <a:t>strategic</a:t>
            </a:r>
            <a:r>
              <a:rPr dirty="0" spc="170"/>
              <a:t> </a:t>
            </a:r>
            <a:r>
              <a:rPr dirty="0"/>
              <a:t>weight</a:t>
            </a:r>
            <a:r>
              <a:rPr dirty="0" spc="175"/>
              <a:t> </a:t>
            </a:r>
            <a:r>
              <a:rPr dirty="0"/>
              <a:t>for</a:t>
            </a:r>
            <a:r>
              <a:rPr dirty="0" spc="170"/>
              <a:t> </a:t>
            </a:r>
            <a:r>
              <a:rPr dirty="0"/>
              <a:t>Indian</a:t>
            </a:r>
            <a:r>
              <a:rPr dirty="0" spc="170"/>
              <a:t> </a:t>
            </a:r>
            <a:r>
              <a:rPr dirty="0"/>
              <a:t>industry</a:t>
            </a:r>
            <a:r>
              <a:rPr dirty="0" spc="170"/>
              <a:t> </a:t>
            </a:r>
            <a:r>
              <a:rPr dirty="0"/>
              <a:t>and</a:t>
            </a:r>
            <a:r>
              <a:rPr dirty="0" spc="170"/>
              <a:t> </a:t>
            </a:r>
            <a:r>
              <a:rPr dirty="0"/>
              <a:t>policy:</a:t>
            </a:r>
            <a:r>
              <a:rPr dirty="0" spc="170"/>
              <a:t> </a:t>
            </a:r>
            <a:r>
              <a:rPr dirty="0"/>
              <a:t>do</a:t>
            </a:r>
            <a:r>
              <a:rPr dirty="0" spc="170"/>
              <a:t> </a:t>
            </a:r>
            <a:r>
              <a:rPr dirty="0"/>
              <a:t>R&amp;D</a:t>
            </a:r>
            <a:r>
              <a:rPr dirty="0" spc="170"/>
              <a:t> </a:t>
            </a:r>
            <a:r>
              <a:rPr dirty="0"/>
              <a:t>spending</a:t>
            </a:r>
            <a:r>
              <a:rPr dirty="0" spc="175"/>
              <a:t> </a:t>
            </a:r>
            <a:r>
              <a:rPr dirty="0" spc="-25"/>
              <a:t>and </a:t>
            </a:r>
            <a:r>
              <a:rPr dirty="0"/>
              <a:t>digital</a:t>
            </a:r>
            <a:r>
              <a:rPr dirty="0" spc="85"/>
              <a:t> </a:t>
            </a:r>
            <a:r>
              <a:rPr dirty="0"/>
              <a:t>infrastructure</a:t>
            </a:r>
            <a:r>
              <a:rPr dirty="0" spc="90"/>
              <a:t> </a:t>
            </a:r>
            <a:r>
              <a:rPr dirty="0"/>
              <a:t>investment</a:t>
            </a:r>
            <a:r>
              <a:rPr dirty="0" spc="90"/>
              <a:t> </a:t>
            </a:r>
            <a:r>
              <a:rPr dirty="0"/>
              <a:t>actually</a:t>
            </a:r>
            <a:r>
              <a:rPr dirty="0" spc="90"/>
              <a:t> </a:t>
            </a:r>
            <a:r>
              <a:rPr dirty="0"/>
              <a:t>make</a:t>
            </a:r>
            <a:r>
              <a:rPr dirty="0" spc="90"/>
              <a:t> </a:t>
            </a:r>
            <a:r>
              <a:rPr dirty="0"/>
              <a:t>Indian</a:t>
            </a:r>
            <a:r>
              <a:rPr dirty="0" spc="90"/>
              <a:t> </a:t>
            </a:r>
            <a:r>
              <a:rPr dirty="0"/>
              <a:t>firms</a:t>
            </a:r>
            <a:r>
              <a:rPr dirty="0" spc="90"/>
              <a:t> </a:t>
            </a:r>
            <a:r>
              <a:rPr dirty="0"/>
              <a:t>more</a:t>
            </a:r>
            <a:r>
              <a:rPr dirty="0" spc="90"/>
              <a:t> </a:t>
            </a:r>
            <a:r>
              <a:rPr dirty="0"/>
              <a:t>competitive</a:t>
            </a:r>
            <a:r>
              <a:rPr dirty="0" spc="90"/>
              <a:t> </a:t>
            </a:r>
            <a:r>
              <a:rPr dirty="0"/>
              <a:t>exporters,</a:t>
            </a:r>
            <a:r>
              <a:rPr dirty="0" spc="90"/>
              <a:t> </a:t>
            </a:r>
            <a:r>
              <a:rPr dirty="0"/>
              <a:t>or</a:t>
            </a:r>
            <a:r>
              <a:rPr dirty="0" spc="90"/>
              <a:t> </a:t>
            </a:r>
            <a:r>
              <a:rPr dirty="0"/>
              <a:t>is</a:t>
            </a:r>
            <a:r>
              <a:rPr dirty="0" spc="90"/>
              <a:t> </a:t>
            </a:r>
            <a:r>
              <a:rPr dirty="0"/>
              <a:t>export</a:t>
            </a:r>
            <a:r>
              <a:rPr dirty="0" spc="90"/>
              <a:t> </a:t>
            </a:r>
            <a:r>
              <a:rPr dirty="0"/>
              <a:t>success</a:t>
            </a:r>
            <a:r>
              <a:rPr dirty="0" spc="90"/>
              <a:t> </a:t>
            </a:r>
            <a:r>
              <a:rPr dirty="0" spc="-10"/>
              <a:t>driven </a:t>
            </a:r>
            <a:r>
              <a:rPr dirty="0"/>
              <a:t>by more structural factors </a:t>
            </a:r>
            <a:r>
              <a:rPr dirty="0" spc="1065"/>
              <a:t>—</a:t>
            </a:r>
            <a:r>
              <a:rPr dirty="0" spc="60"/>
              <a:t> </a:t>
            </a:r>
            <a:r>
              <a:rPr dirty="0"/>
              <a:t>the industry a firm sits in, its supply chain, and its people? Using eleven years of </a:t>
            </a:r>
            <a:r>
              <a:rPr dirty="0" spc="-20"/>
              <a:t>firm-</a:t>
            </a:r>
            <a:r>
              <a:rPr dirty="0"/>
              <a:t>level</a:t>
            </a:r>
            <a:r>
              <a:rPr dirty="0" spc="114"/>
              <a:t> </a:t>
            </a:r>
            <a:r>
              <a:rPr dirty="0"/>
              <a:t>financial</a:t>
            </a:r>
            <a:r>
              <a:rPr dirty="0" spc="120"/>
              <a:t> </a:t>
            </a:r>
            <a:r>
              <a:rPr dirty="0"/>
              <a:t>data</a:t>
            </a:r>
            <a:r>
              <a:rPr dirty="0" spc="120"/>
              <a:t> </a:t>
            </a:r>
            <a:r>
              <a:rPr dirty="0"/>
              <a:t>from</a:t>
            </a:r>
            <a:r>
              <a:rPr dirty="0" spc="120"/>
              <a:t> </a:t>
            </a:r>
            <a:r>
              <a:rPr dirty="0"/>
              <a:t>the</a:t>
            </a:r>
            <a:r>
              <a:rPr dirty="0" spc="120"/>
              <a:t> </a:t>
            </a:r>
            <a:r>
              <a:rPr dirty="0"/>
              <a:t>CMIE</a:t>
            </a:r>
            <a:r>
              <a:rPr dirty="0" spc="120"/>
              <a:t> </a:t>
            </a:r>
            <a:r>
              <a:rPr dirty="0"/>
              <a:t>Prowess</a:t>
            </a:r>
            <a:r>
              <a:rPr dirty="0" spc="114"/>
              <a:t> </a:t>
            </a:r>
            <a:r>
              <a:rPr dirty="0"/>
              <a:t>database</a:t>
            </a:r>
            <a:r>
              <a:rPr dirty="0" spc="120"/>
              <a:t> </a:t>
            </a:r>
            <a:r>
              <a:rPr dirty="0" spc="95"/>
              <a:t>(2014–</a:t>
            </a:r>
            <a:r>
              <a:rPr dirty="0"/>
              <a:t>2025),</a:t>
            </a:r>
            <a:r>
              <a:rPr dirty="0" spc="120"/>
              <a:t> </a:t>
            </a:r>
            <a:r>
              <a:rPr dirty="0"/>
              <a:t>I</a:t>
            </a:r>
            <a:r>
              <a:rPr dirty="0" spc="120"/>
              <a:t> </a:t>
            </a:r>
            <a:r>
              <a:rPr dirty="0"/>
              <a:t>built</a:t>
            </a:r>
            <a:r>
              <a:rPr dirty="0" spc="120"/>
              <a:t> </a:t>
            </a:r>
            <a:r>
              <a:rPr dirty="0"/>
              <a:t>and</a:t>
            </a:r>
            <a:r>
              <a:rPr dirty="0" spc="120"/>
              <a:t> </a:t>
            </a:r>
            <a:r>
              <a:rPr dirty="0"/>
              <a:t>estimated</a:t>
            </a:r>
            <a:r>
              <a:rPr dirty="0" spc="120"/>
              <a:t> </a:t>
            </a:r>
            <a:r>
              <a:rPr dirty="0"/>
              <a:t>seven</a:t>
            </a:r>
            <a:r>
              <a:rPr dirty="0" spc="114"/>
              <a:t> </a:t>
            </a:r>
            <a:r>
              <a:rPr dirty="0"/>
              <a:t>regression</a:t>
            </a:r>
            <a:r>
              <a:rPr dirty="0" spc="120"/>
              <a:t> </a:t>
            </a:r>
            <a:r>
              <a:rPr dirty="0" spc="-10"/>
              <a:t>models </a:t>
            </a:r>
            <a:r>
              <a:rPr dirty="0"/>
              <a:t>to</a:t>
            </a:r>
            <a:r>
              <a:rPr dirty="0" spc="385"/>
              <a:t> </a:t>
            </a:r>
            <a:r>
              <a:rPr dirty="0"/>
              <a:t>test</a:t>
            </a:r>
            <a:r>
              <a:rPr dirty="0" spc="385"/>
              <a:t> </a:t>
            </a:r>
            <a:r>
              <a:rPr dirty="0"/>
              <a:t>this</a:t>
            </a:r>
            <a:r>
              <a:rPr dirty="0" spc="390"/>
              <a:t> </a:t>
            </a:r>
            <a:r>
              <a:rPr dirty="0"/>
              <a:t>rigorously</a:t>
            </a:r>
            <a:r>
              <a:rPr dirty="0" spc="385"/>
              <a:t> </a:t>
            </a:r>
            <a:r>
              <a:rPr dirty="0"/>
              <a:t>rather</a:t>
            </a:r>
            <a:r>
              <a:rPr dirty="0" spc="390"/>
              <a:t> </a:t>
            </a:r>
            <a:r>
              <a:rPr dirty="0"/>
              <a:t>than</a:t>
            </a:r>
            <a:r>
              <a:rPr dirty="0" spc="385"/>
              <a:t> </a:t>
            </a:r>
            <a:r>
              <a:rPr dirty="0"/>
              <a:t>anecdotally,</a:t>
            </a:r>
            <a:r>
              <a:rPr dirty="0" spc="390"/>
              <a:t> </a:t>
            </a:r>
            <a:r>
              <a:rPr dirty="0"/>
              <a:t>filling</a:t>
            </a:r>
            <a:r>
              <a:rPr dirty="0" spc="385"/>
              <a:t> </a:t>
            </a:r>
            <a:r>
              <a:rPr dirty="0"/>
              <a:t>a</a:t>
            </a:r>
            <a:r>
              <a:rPr dirty="0" spc="390"/>
              <a:t> </a:t>
            </a:r>
            <a:r>
              <a:rPr dirty="0"/>
              <a:t>genuine</a:t>
            </a:r>
            <a:r>
              <a:rPr dirty="0" spc="385"/>
              <a:t> </a:t>
            </a:r>
            <a:r>
              <a:rPr dirty="0"/>
              <a:t>literature</a:t>
            </a:r>
            <a:r>
              <a:rPr dirty="0" spc="390"/>
              <a:t> </a:t>
            </a:r>
            <a:r>
              <a:rPr dirty="0"/>
              <a:t>gap</a:t>
            </a:r>
            <a:r>
              <a:rPr dirty="0" spc="385"/>
              <a:t> </a:t>
            </a:r>
            <a:r>
              <a:rPr dirty="0" spc="1065"/>
              <a:t>—</a:t>
            </a:r>
            <a:r>
              <a:rPr dirty="0" spc="390"/>
              <a:t> </a:t>
            </a:r>
            <a:r>
              <a:rPr dirty="0"/>
              <a:t>no</a:t>
            </a:r>
            <a:r>
              <a:rPr dirty="0" spc="385"/>
              <a:t> </a:t>
            </a:r>
            <a:r>
              <a:rPr dirty="0"/>
              <a:t>prior</a:t>
            </a:r>
            <a:r>
              <a:rPr dirty="0" spc="385"/>
              <a:t> </a:t>
            </a:r>
            <a:r>
              <a:rPr dirty="0"/>
              <a:t>study</a:t>
            </a:r>
            <a:r>
              <a:rPr dirty="0" spc="390"/>
              <a:t> </a:t>
            </a:r>
            <a:r>
              <a:rPr dirty="0"/>
              <a:t>had</a:t>
            </a:r>
            <a:r>
              <a:rPr dirty="0" spc="385"/>
              <a:t> </a:t>
            </a:r>
            <a:r>
              <a:rPr dirty="0"/>
              <a:t>combined</a:t>
            </a:r>
            <a:r>
              <a:rPr dirty="0" spc="390"/>
              <a:t> </a:t>
            </a:r>
            <a:r>
              <a:rPr dirty="0" spc="-50"/>
              <a:t>a </a:t>
            </a:r>
            <a:r>
              <a:rPr dirty="0"/>
              <a:t>composite</a:t>
            </a:r>
            <a:r>
              <a:rPr dirty="0" spc="130"/>
              <a:t> </a:t>
            </a:r>
            <a:r>
              <a:rPr dirty="0"/>
              <a:t>Digital</a:t>
            </a:r>
            <a:r>
              <a:rPr dirty="0" spc="140"/>
              <a:t> </a:t>
            </a:r>
            <a:r>
              <a:rPr dirty="0"/>
              <a:t>Intensity</a:t>
            </a:r>
            <a:r>
              <a:rPr dirty="0" spc="135"/>
              <a:t> </a:t>
            </a:r>
            <a:r>
              <a:rPr dirty="0"/>
              <a:t>Index</a:t>
            </a:r>
            <a:r>
              <a:rPr dirty="0" spc="135"/>
              <a:t> </a:t>
            </a:r>
            <a:r>
              <a:rPr dirty="0"/>
              <a:t>with</a:t>
            </a:r>
            <a:r>
              <a:rPr dirty="0" spc="135"/>
              <a:t> </a:t>
            </a:r>
            <a:r>
              <a:rPr dirty="0"/>
              <a:t>R&amp;D</a:t>
            </a:r>
            <a:r>
              <a:rPr dirty="0" spc="135"/>
              <a:t> </a:t>
            </a:r>
            <a:r>
              <a:rPr dirty="0"/>
              <a:t>and</a:t>
            </a:r>
            <a:r>
              <a:rPr dirty="0" spc="130"/>
              <a:t> </a:t>
            </a:r>
            <a:r>
              <a:rPr dirty="0" spc="-20"/>
              <a:t>royalty-</a:t>
            </a:r>
            <a:r>
              <a:rPr dirty="0"/>
              <a:t>licensing</a:t>
            </a:r>
            <a:r>
              <a:rPr dirty="0" spc="135"/>
              <a:t> </a:t>
            </a:r>
            <a:r>
              <a:rPr dirty="0"/>
              <a:t>data</a:t>
            </a:r>
            <a:r>
              <a:rPr dirty="0" spc="135"/>
              <a:t> </a:t>
            </a:r>
            <a:r>
              <a:rPr dirty="0"/>
              <a:t>to</a:t>
            </a:r>
            <a:r>
              <a:rPr dirty="0" spc="135"/>
              <a:t> </a:t>
            </a:r>
            <a:r>
              <a:rPr dirty="0"/>
              <a:t>compare</a:t>
            </a:r>
            <a:r>
              <a:rPr dirty="0" spc="135"/>
              <a:t> </a:t>
            </a:r>
            <a:r>
              <a:rPr dirty="0"/>
              <a:t>their</a:t>
            </a:r>
            <a:r>
              <a:rPr dirty="0" spc="135"/>
              <a:t> </a:t>
            </a:r>
            <a:r>
              <a:rPr dirty="0"/>
              <a:t>effects</a:t>
            </a:r>
            <a:r>
              <a:rPr dirty="0" spc="130"/>
              <a:t> </a:t>
            </a:r>
            <a:r>
              <a:rPr dirty="0"/>
              <a:t>before</a:t>
            </a:r>
            <a:r>
              <a:rPr dirty="0" spc="135"/>
              <a:t> </a:t>
            </a:r>
            <a:r>
              <a:rPr dirty="0"/>
              <a:t>and</a:t>
            </a:r>
            <a:r>
              <a:rPr dirty="0" spc="135"/>
              <a:t> </a:t>
            </a:r>
            <a:r>
              <a:rPr dirty="0"/>
              <a:t>after</a:t>
            </a:r>
            <a:r>
              <a:rPr dirty="0" spc="135"/>
              <a:t> </a:t>
            </a:r>
            <a:r>
              <a:rPr dirty="0" spc="-25"/>
              <a:t>the COVID-</a:t>
            </a:r>
            <a:r>
              <a:rPr dirty="0"/>
              <a:t>19</a:t>
            </a:r>
            <a:r>
              <a:rPr dirty="0" spc="-5"/>
              <a:t> </a:t>
            </a:r>
            <a:r>
              <a:rPr dirty="0" spc="-25"/>
              <a:t>digital-</a:t>
            </a:r>
            <a:r>
              <a:rPr dirty="0"/>
              <a:t>adoption </a:t>
            </a:r>
            <a:r>
              <a:rPr dirty="0" spc="-10"/>
              <a:t>shock.</a:t>
            </a:r>
          </a:p>
          <a:p>
            <a:pPr algn="just" marL="572770" marR="5080">
              <a:lnSpc>
                <a:spcPct val="115399"/>
              </a:lnSpc>
            </a:pPr>
            <a:r>
              <a:rPr dirty="0"/>
              <a:t>RQ1:</a:t>
            </a:r>
            <a:r>
              <a:rPr dirty="0" spc="80"/>
              <a:t> </a:t>
            </a:r>
            <a:r>
              <a:rPr dirty="0"/>
              <a:t>Are</a:t>
            </a:r>
            <a:r>
              <a:rPr dirty="0" spc="215"/>
              <a:t> </a:t>
            </a:r>
            <a:r>
              <a:rPr dirty="0"/>
              <a:t>R&amp;D</a:t>
            </a:r>
            <a:r>
              <a:rPr dirty="0" spc="210"/>
              <a:t> </a:t>
            </a:r>
            <a:r>
              <a:rPr dirty="0"/>
              <a:t>intensity</a:t>
            </a:r>
            <a:r>
              <a:rPr dirty="0" spc="210"/>
              <a:t> </a:t>
            </a:r>
            <a:r>
              <a:rPr dirty="0"/>
              <a:t>and</a:t>
            </a:r>
            <a:r>
              <a:rPr dirty="0" spc="210"/>
              <a:t> </a:t>
            </a:r>
            <a:r>
              <a:rPr dirty="0" spc="-25"/>
              <a:t>technology-</a:t>
            </a:r>
            <a:r>
              <a:rPr dirty="0"/>
              <a:t>licensing</a:t>
            </a:r>
            <a:r>
              <a:rPr dirty="0" spc="210"/>
              <a:t> </a:t>
            </a:r>
            <a:r>
              <a:rPr dirty="0"/>
              <a:t>(royalty)</a:t>
            </a:r>
            <a:r>
              <a:rPr dirty="0" spc="215"/>
              <a:t> </a:t>
            </a:r>
            <a:r>
              <a:rPr dirty="0"/>
              <a:t>payments</a:t>
            </a:r>
            <a:r>
              <a:rPr dirty="0" spc="210"/>
              <a:t> </a:t>
            </a:r>
            <a:r>
              <a:rPr dirty="0"/>
              <a:t>associated</a:t>
            </a:r>
            <a:r>
              <a:rPr dirty="0" spc="210"/>
              <a:t> </a:t>
            </a:r>
            <a:r>
              <a:rPr dirty="0"/>
              <a:t>with</a:t>
            </a:r>
            <a:r>
              <a:rPr dirty="0" spc="210"/>
              <a:t> </a:t>
            </a:r>
            <a:r>
              <a:rPr dirty="0"/>
              <a:t>export</a:t>
            </a:r>
            <a:r>
              <a:rPr dirty="0" spc="210"/>
              <a:t> </a:t>
            </a:r>
            <a:r>
              <a:rPr dirty="0"/>
              <a:t>volume,</a:t>
            </a:r>
            <a:r>
              <a:rPr dirty="0" spc="210"/>
              <a:t> </a:t>
            </a:r>
            <a:r>
              <a:rPr dirty="0" spc="-10"/>
              <a:t>intensity, </a:t>
            </a:r>
            <a:r>
              <a:rPr dirty="0"/>
              <a:t>participation,</a:t>
            </a:r>
            <a:r>
              <a:rPr dirty="0" spc="95"/>
              <a:t>  </a:t>
            </a:r>
            <a:r>
              <a:rPr dirty="0"/>
              <a:t>and</a:t>
            </a:r>
            <a:r>
              <a:rPr dirty="0" spc="95"/>
              <a:t>  </a:t>
            </a:r>
            <a:r>
              <a:rPr dirty="0" spc="-15"/>
              <a:t>service-</a:t>
            </a:r>
            <a:r>
              <a:rPr dirty="0"/>
              <a:t>export</a:t>
            </a:r>
            <a:r>
              <a:rPr dirty="0" spc="95"/>
              <a:t>  </a:t>
            </a:r>
            <a:r>
              <a:rPr dirty="0"/>
              <a:t>likelihood</a:t>
            </a:r>
            <a:r>
              <a:rPr dirty="0" spc="880"/>
              <a:t> </a:t>
            </a:r>
            <a:r>
              <a:rPr dirty="0" spc="1065"/>
              <a:t>—</a:t>
            </a:r>
            <a:r>
              <a:rPr dirty="0" spc="880"/>
              <a:t> </a:t>
            </a:r>
            <a:r>
              <a:rPr dirty="0"/>
              <a:t>and</a:t>
            </a:r>
            <a:r>
              <a:rPr dirty="0" spc="95"/>
              <a:t>  </a:t>
            </a:r>
            <a:r>
              <a:rPr dirty="0"/>
              <a:t>is</a:t>
            </a:r>
            <a:r>
              <a:rPr dirty="0" spc="95"/>
              <a:t>  </a:t>
            </a:r>
            <a:r>
              <a:rPr dirty="0"/>
              <a:t>this</a:t>
            </a:r>
            <a:r>
              <a:rPr dirty="0" spc="95"/>
              <a:t>  </a:t>
            </a:r>
            <a:r>
              <a:rPr dirty="0"/>
              <a:t>effect</a:t>
            </a:r>
            <a:r>
              <a:rPr dirty="0" spc="100"/>
              <a:t>  </a:t>
            </a:r>
            <a:r>
              <a:rPr dirty="0"/>
              <a:t>stronger</a:t>
            </a:r>
            <a:r>
              <a:rPr dirty="0" spc="95"/>
              <a:t>  </a:t>
            </a:r>
            <a:r>
              <a:rPr dirty="0"/>
              <a:t>in</a:t>
            </a:r>
            <a:r>
              <a:rPr dirty="0" spc="95"/>
              <a:t>  </a:t>
            </a:r>
            <a:r>
              <a:rPr dirty="0" spc="-25"/>
              <a:t>technology-</a:t>
            </a:r>
            <a:r>
              <a:rPr dirty="0"/>
              <a:t>intensive</a:t>
            </a:r>
            <a:r>
              <a:rPr dirty="0" spc="95"/>
              <a:t>  </a:t>
            </a:r>
            <a:r>
              <a:rPr dirty="0" spc="-10"/>
              <a:t>sectors </a:t>
            </a:r>
            <a:r>
              <a:rPr dirty="0"/>
              <a:t>(electronics,</a:t>
            </a:r>
            <a:r>
              <a:rPr dirty="0" spc="-105"/>
              <a:t> </a:t>
            </a:r>
            <a:r>
              <a:rPr dirty="0"/>
              <a:t>software,</a:t>
            </a:r>
            <a:r>
              <a:rPr dirty="0" spc="-105"/>
              <a:t> </a:t>
            </a:r>
            <a:r>
              <a:rPr dirty="0"/>
              <a:t>R&amp;D</a:t>
            </a:r>
            <a:r>
              <a:rPr dirty="0" spc="-105"/>
              <a:t> </a:t>
            </a:r>
            <a:r>
              <a:rPr dirty="0" spc="-10"/>
              <a:t>services)?</a:t>
            </a:r>
          </a:p>
          <a:p>
            <a:pPr algn="just" marL="572770" marR="5080">
              <a:lnSpc>
                <a:spcPct val="115399"/>
              </a:lnSpc>
            </a:pPr>
            <a:r>
              <a:rPr dirty="0"/>
              <a:t>RQ2:</a:t>
            </a:r>
            <a:r>
              <a:rPr dirty="0" spc="459"/>
              <a:t> </a:t>
            </a:r>
            <a:r>
              <a:rPr dirty="0"/>
              <a:t>Is</a:t>
            </a:r>
            <a:r>
              <a:rPr dirty="0" spc="465"/>
              <a:t> </a:t>
            </a:r>
            <a:r>
              <a:rPr dirty="0"/>
              <a:t>a</a:t>
            </a:r>
            <a:r>
              <a:rPr dirty="0" spc="465"/>
              <a:t> </a:t>
            </a:r>
            <a:r>
              <a:rPr dirty="0"/>
              <a:t>composite</a:t>
            </a:r>
            <a:r>
              <a:rPr dirty="0" spc="459"/>
              <a:t> </a:t>
            </a:r>
            <a:r>
              <a:rPr dirty="0"/>
              <a:t>Digital</a:t>
            </a:r>
            <a:r>
              <a:rPr dirty="0" spc="470"/>
              <a:t> </a:t>
            </a:r>
            <a:r>
              <a:rPr dirty="0"/>
              <a:t>Intensity</a:t>
            </a:r>
            <a:r>
              <a:rPr dirty="0" spc="459"/>
              <a:t> </a:t>
            </a:r>
            <a:r>
              <a:rPr dirty="0"/>
              <a:t>Index</a:t>
            </a:r>
            <a:r>
              <a:rPr dirty="0" spc="465"/>
              <a:t> </a:t>
            </a:r>
            <a:r>
              <a:rPr dirty="0"/>
              <a:t>(software,</a:t>
            </a:r>
            <a:r>
              <a:rPr dirty="0" spc="465"/>
              <a:t> </a:t>
            </a:r>
            <a:r>
              <a:rPr dirty="0" spc="-65"/>
              <a:t>IT-</a:t>
            </a:r>
            <a:r>
              <a:rPr dirty="0"/>
              <a:t>enabled</a:t>
            </a:r>
            <a:r>
              <a:rPr dirty="0" spc="459"/>
              <a:t> </a:t>
            </a:r>
            <a:r>
              <a:rPr dirty="0"/>
              <a:t>services,</a:t>
            </a:r>
            <a:r>
              <a:rPr dirty="0" spc="465"/>
              <a:t> </a:t>
            </a:r>
            <a:r>
              <a:rPr dirty="0"/>
              <a:t>ISP,</a:t>
            </a:r>
            <a:r>
              <a:rPr dirty="0" spc="465"/>
              <a:t> </a:t>
            </a:r>
            <a:r>
              <a:rPr dirty="0"/>
              <a:t>data</a:t>
            </a:r>
            <a:r>
              <a:rPr dirty="0" spc="459"/>
              <a:t> </a:t>
            </a:r>
            <a:r>
              <a:rPr dirty="0"/>
              <a:t>centre,</a:t>
            </a:r>
            <a:r>
              <a:rPr dirty="0" spc="465"/>
              <a:t> </a:t>
            </a:r>
            <a:r>
              <a:rPr dirty="0" spc="-10"/>
              <a:t>satellite/VSAT </a:t>
            </a:r>
            <a:r>
              <a:rPr dirty="0"/>
              <a:t>costs)</a:t>
            </a:r>
            <a:r>
              <a:rPr dirty="0" spc="400"/>
              <a:t> </a:t>
            </a:r>
            <a:r>
              <a:rPr dirty="0"/>
              <a:t>associated</a:t>
            </a:r>
            <a:r>
              <a:rPr dirty="0" spc="405"/>
              <a:t> </a:t>
            </a:r>
            <a:r>
              <a:rPr dirty="0"/>
              <a:t>with</a:t>
            </a:r>
            <a:r>
              <a:rPr dirty="0" spc="405"/>
              <a:t> </a:t>
            </a:r>
            <a:r>
              <a:rPr dirty="0"/>
              <a:t>export</a:t>
            </a:r>
            <a:r>
              <a:rPr dirty="0" spc="400"/>
              <a:t> </a:t>
            </a:r>
            <a:r>
              <a:rPr dirty="0"/>
              <a:t>intensity</a:t>
            </a:r>
            <a:r>
              <a:rPr dirty="0" spc="405"/>
              <a:t> </a:t>
            </a:r>
            <a:r>
              <a:rPr dirty="0"/>
              <a:t>and</a:t>
            </a:r>
            <a:r>
              <a:rPr dirty="0" spc="405"/>
              <a:t> </a:t>
            </a:r>
            <a:r>
              <a:rPr dirty="0"/>
              <a:t>participation</a:t>
            </a:r>
            <a:r>
              <a:rPr dirty="0" spc="405"/>
              <a:t> </a:t>
            </a:r>
            <a:r>
              <a:rPr dirty="0" spc="1065"/>
              <a:t>—</a:t>
            </a:r>
            <a:r>
              <a:rPr dirty="0" spc="400"/>
              <a:t> </a:t>
            </a:r>
            <a:r>
              <a:rPr dirty="0"/>
              <a:t>and</a:t>
            </a:r>
            <a:r>
              <a:rPr dirty="0" spc="405"/>
              <a:t> </a:t>
            </a:r>
            <a:r>
              <a:rPr dirty="0"/>
              <a:t>does</a:t>
            </a:r>
            <a:r>
              <a:rPr dirty="0" spc="405"/>
              <a:t> </a:t>
            </a:r>
            <a:r>
              <a:rPr dirty="0"/>
              <a:t>this</a:t>
            </a:r>
            <a:r>
              <a:rPr dirty="0" spc="405"/>
              <a:t> </a:t>
            </a:r>
            <a:r>
              <a:rPr dirty="0"/>
              <a:t>differ</a:t>
            </a:r>
            <a:r>
              <a:rPr dirty="0" spc="400"/>
              <a:t> </a:t>
            </a:r>
            <a:r>
              <a:rPr dirty="0"/>
              <a:t>between</a:t>
            </a:r>
            <a:r>
              <a:rPr dirty="0" spc="405"/>
              <a:t> </a:t>
            </a:r>
            <a:r>
              <a:rPr dirty="0"/>
              <a:t>manufacturing</a:t>
            </a:r>
            <a:r>
              <a:rPr dirty="0" spc="405"/>
              <a:t> </a:t>
            </a:r>
            <a:r>
              <a:rPr dirty="0" spc="-25"/>
              <a:t>and </a:t>
            </a:r>
            <a:r>
              <a:rPr dirty="0"/>
              <a:t>services</a:t>
            </a:r>
            <a:r>
              <a:rPr dirty="0" spc="-100"/>
              <a:t> </a:t>
            </a:r>
            <a:r>
              <a:rPr dirty="0" spc="-10"/>
              <a:t>firms?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185"/>
              <a:t>RI</a:t>
            </a:r>
            <a:r>
              <a:rPr dirty="0" spc="-1110"/>
              <a:t> </a:t>
            </a:r>
            <a:r>
              <a:rPr dirty="0" spc="-1140"/>
              <a:t>-</a:t>
            </a:r>
            <a:r>
              <a:rPr dirty="0" spc="-1110"/>
              <a:t> </a:t>
            </a:r>
            <a:r>
              <a:rPr dirty="0" spc="-1845"/>
              <a:t>CONTINUED</a:t>
            </a: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347" y="5124988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347" y="6953788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/>
              <a:t>Rather</a:t>
            </a:r>
            <a:r>
              <a:rPr dirty="0" spc="120"/>
              <a:t> </a:t>
            </a:r>
            <a:r>
              <a:rPr dirty="0"/>
              <a:t>than</a:t>
            </a:r>
            <a:r>
              <a:rPr dirty="0" spc="120"/>
              <a:t> </a:t>
            </a:r>
            <a:r>
              <a:rPr dirty="0"/>
              <a:t>relying</a:t>
            </a:r>
            <a:r>
              <a:rPr dirty="0" spc="125"/>
              <a:t> </a:t>
            </a:r>
            <a:r>
              <a:rPr dirty="0"/>
              <a:t>on</a:t>
            </a:r>
            <a:r>
              <a:rPr dirty="0" spc="120"/>
              <a:t> </a:t>
            </a:r>
            <a:r>
              <a:rPr dirty="0"/>
              <a:t>a</a:t>
            </a:r>
            <a:r>
              <a:rPr dirty="0" spc="120"/>
              <a:t> </a:t>
            </a:r>
            <a:r>
              <a:rPr dirty="0"/>
              <a:t>single</a:t>
            </a:r>
            <a:r>
              <a:rPr dirty="0" spc="125"/>
              <a:t> </a:t>
            </a:r>
            <a:r>
              <a:rPr dirty="0"/>
              <a:t>regression,</a:t>
            </a:r>
            <a:r>
              <a:rPr dirty="0" spc="120"/>
              <a:t> </a:t>
            </a:r>
            <a:r>
              <a:rPr dirty="0"/>
              <a:t>I</a:t>
            </a:r>
            <a:r>
              <a:rPr dirty="0" spc="120"/>
              <a:t> </a:t>
            </a:r>
            <a:r>
              <a:rPr dirty="0"/>
              <a:t>built</a:t>
            </a:r>
            <a:r>
              <a:rPr dirty="0" spc="125"/>
              <a:t> </a:t>
            </a:r>
            <a:r>
              <a:rPr dirty="0"/>
              <a:t>a</a:t>
            </a:r>
            <a:r>
              <a:rPr dirty="0" spc="120"/>
              <a:t> </a:t>
            </a:r>
            <a:r>
              <a:rPr dirty="0"/>
              <a:t>battery</a:t>
            </a:r>
            <a:r>
              <a:rPr dirty="0" spc="120"/>
              <a:t> </a:t>
            </a:r>
            <a:r>
              <a:rPr dirty="0"/>
              <a:t>of</a:t>
            </a:r>
            <a:r>
              <a:rPr dirty="0" spc="125"/>
              <a:t> </a:t>
            </a:r>
            <a:r>
              <a:rPr dirty="0"/>
              <a:t>seven</a:t>
            </a:r>
            <a:r>
              <a:rPr dirty="0" spc="120"/>
              <a:t> </a:t>
            </a:r>
            <a:r>
              <a:rPr dirty="0"/>
              <a:t>models</a:t>
            </a:r>
            <a:r>
              <a:rPr dirty="0" spc="120"/>
              <a:t> </a:t>
            </a:r>
            <a:r>
              <a:rPr dirty="0"/>
              <a:t>spanning</a:t>
            </a:r>
            <a:r>
              <a:rPr dirty="0" spc="125"/>
              <a:t> </a:t>
            </a:r>
            <a:r>
              <a:rPr dirty="0"/>
              <a:t>OLS</a:t>
            </a:r>
            <a:r>
              <a:rPr dirty="0" spc="120"/>
              <a:t> </a:t>
            </a:r>
            <a:r>
              <a:rPr dirty="0"/>
              <a:t>(continuous</a:t>
            </a:r>
            <a:r>
              <a:rPr dirty="0" spc="120"/>
              <a:t> </a:t>
            </a:r>
            <a:r>
              <a:rPr dirty="0" spc="-10"/>
              <a:t>outcomes) </a:t>
            </a:r>
            <a:r>
              <a:rPr dirty="0"/>
              <a:t>and</a:t>
            </a:r>
            <a:r>
              <a:rPr dirty="0" spc="5"/>
              <a:t> </a:t>
            </a:r>
            <a:r>
              <a:rPr dirty="0"/>
              <a:t>logistic</a:t>
            </a:r>
            <a:r>
              <a:rPr dirty="0" spc="5"/>
              <a:t> </a:t>
            </a:r>
            <a:r>
              <a:rPr dirty="0"/>
              <a:t>regression</a:t>
            </a:r>
            <a:r>
              <a:rPr dirty="0" spc="10"/>
              <a:t> </a:t>
            </a:r>
            <a:r>
              <a:rPr dirty="0"/>
              <a:t>(binary</a:t>
            </a:r>
            <a:r>
              <a:rPr dirty="0" spc="5"/>
              <a:t> </a:t>
            </a:r>
            <a:r>
              <a:rPr dirty="0"/>
              <a:t>outcomes),</a:t>
            </a:r>
            <a:r>
              <a:rPr dirty="0" spc="5"/>
              <a:t> </a:t>
            </a:r>
            <a:r>
              <a:rPr dirty="0"/>
              <a:t>each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5"/>
              <a:t> </a:t>
            </a:r>
            <a:r>
              <a:rPr dirty="0"/>
              <a:t>industry</a:t>
            </a:r>
            <a:r>
              <a:rPr dirty="0" spc="5"/>
              <a:t> </a:t>
            </a:r>
            <a:r>
              <a:rPr dirty="0"/>
              <a:t>fixed</a:t>
            </a:r>
            <a:r>
              <a:rPr dirty="0" spc="10"/>
              <a:t> </a:t>
            </a:r>
            <a:r>
              <a:rPr dirty="0"/>
              <a:t>effects</a:t>
            </a:r>
            <a:r>
              <a:rPr dirty="0" spc="5"/>
              <a:t> </a:t>
            </a:r>
            <a:r>
              <a:rPr dirty="0"/>
              <a:t>at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5"/>
              <a:t>two-</a:t>
            </a:r>
            <a:r>
              <a:rPr dirty="0"/>
              <a:t>digit</a:t>
            </a:r>
            <a:r>
              <a:rPr dirty="0" spc="5"/>
              <a:t> </a:t>
            </a:r>
            <a:r>
              <a:rPr dirty="0"/>
              <a:t>NIC</a:t>
            </a:r>
            <a:r>
              <a:rPr dirty="0" spc="5"/>
              <a:t> </a:t>
            </a:r>
            <a:r>
              <a:rPr dirty="0"/>
              <a:t>level.</a:t>
            </a:r>
            <a:r>
              <a:rPr dirty="0" spc="10"/>
              <a:t> </a:t>
            </a:r>
            <a:r>
              <a:rPr dirty="0"/>
              <a:t>I</a:t>
            </a:r>
            <a:r>
              <a:rPr dirty="0" spc="5"/>
              <a:t> </a:t>
            </a:r>
            <a:r>
              <a:rPr dirty="0"/>
              <a:t>cleaned</a:t>
            </a:r>
            <a:r>
              <a:rPr dirty="0" spc="10"/>
              <a:t> </a:t>
            </a:r>
            <a:r>
              <a:rPr dirty="0" spc="-20"/>
              <a:t>9,281 firm-</a:t>
            </a:r>
            <a:r>
              <a:rPr dirty="0"/>
              <a:t>year observations from an original pull of ~38,000, split the sample into </a:t>
            </a:r>
            <a:r>
              <a:rPr dirty="0" spc="-20"/>
              <a:t>pre-</a:t>
            </a:r>
            <a:r>
              <a:rPr dirty="0"/>
              <a:t>pandemic </a:t>
            </a:r>
            <a:r>
              <a:rPr dirty="0" spc="95"/>
              <a:t>(2014–</a:t>
            </a:r>
            <a:r>
              <a:rPr dirty="0"/>
              <a:t>2019) and </a:t>
            </a:r>
            <a:r>
              <a:rPr dirty="0" spc="-20"/>
              <a:t>post-</a:t>
            </a:r>
            <a:r>
              <a:rPr dirty="0"/>
              <a:t>pandemic</a:t>
            </a:r>
            <a:r>
              <a:rPr dirty="0" spc="140"/>
              <a:t> </a:t>
            </a:r>
            <a:r>
              <a:rPr dirty="0" spc="95"/>
              <a:t>(2020–</a:t>
            </a:r>
            <a:r>
              <a:rPr dirty="0"/>
              <a:t>2025)</a:t>
            </a:r>
            <a:r>
              <a:rPr dirty="0" spc="140"/>
              <a:t> </a:t>
            </a:r>
            <a:r>
              <a:rPr dirty="0"/>
              <a:t>periods,</a:t>
            </a:r>
            <a:r>
              <a:rPr dirty="0" spc="140"/>
              <a:t> </a:t>
            </a:r>
            <a:r>
              <a:rPr dirty="0"/>
              <a:t>and</a:t>
            </a:r>
            <a:r>
              <a:rPr dirty="0" spc="140"/>
              <a:t> </a:t>
            </a:r>
            <a:r>
              <a:rPr dirty="0"/>
              <a:t>constructed</a:t>
            </a:r>
            <a:r>
              <a:rPr dirty="0" spc="140"/>
              <a:t> </a:t>
            </a:r>
            <a:r>
              <a:rPr dirty="0"/>
              <a:t>the</a:t>
            </a:r>
            <a:r>
              <a:rPr dirty="0" spc="140"/>
              <a:t> </a:t>
            </a:r>
            <a:r>
              <a:rPr dirty="0"/>
              <a:t>Digital</a:t>
            </a:r>
            <a:r>
              <a:rPr dirty="0" spc="140"/>
              <a:t> </a:t>
            </a:r>
            <a:r>
              <a:rPr dirty="0"/>
              <a:t>Intensity</a:t>
            </a:r>
            <a:r>
              <a:rPr dirty="0" spc="140"/>
              <a:t> </a:t>
            </a:r>
            <a:r>
              <a:rPr dirty="0"/>
              <a:t>Index</a:t>
            </a:r>
            <a:r>
              <a:rPr dirty="0" spc="140"/>
              <a:t> </a:t>
            </a:r>
            <a:r>
              <a:rPr dirty="0"/>
              <a:t>by</a:t>
            </a:r>
            <a:r>
              <a:rPr dirty="0" spc="140"/>
              <a:t> </a:t>
            </a:r>
            <a:r>
              <a:rPr dirty="0"/>
              <a:t>standardising</a:t>
            </a:r>
            <a:r>
              <a:rPr dirty="0" spc="140"/>
              <a:t> </a:t>
            </a:r>
            <a:r>
              <a:rPr dirty="0"/>
              <a:t>five</a:t>
            </a:r>
            <a:r>
              <a:rPr dirty="0" spc="140"/>
              <a:t> </a:t>
            </a:r>
            <a:r>
              <a:rPr dirty="0"/>
              <a:t>spend</a:t>
            </a:r>
            <a:r>
              <a:rPr dirty="0" spc="140"/>
              <a:t> </a:t>
            </a:r>
            <a:r>
              <a:rPr dirty="0" spc="-10"/>
              <a:t>categories </a:t>
            </a:r>
            <a:r>
              <a:rPr dirty="0"/>
              <a:t>into</a:t>
            </a:r>
            <a:r>
              <a:rPr dirty="0" spc="-20"/>
              <a:t> z-</a:t>
            </a:r>
            <a:r>
              <a:rPr dirty="0"/>
              <a:t>scores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avoid</a:t>
            </a:r>
            <a:r>
              <a:rPr dirty="0" spc="-20"/>
              <a:t> </a:t>
            </a:r>
            <a:r>
              <a:rPr dirty="0" spc="-25"/>
              <a:t>multicollinearity.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most</a:t>
            </a:r>
            <a:r>
              <a:rPr dirty="0" spc="-15"/>
              <a:t> </a:t>
            </a:r>
            <a:r>
              <a:rPr dirty="0"/>
              <a:t>important</a:t>
            </a:r>
            <a:r>
              <a:rPr dirty="0" spc="-20"/>
              <a:t> </a:t>
            </a:r>
            <a:r>
              <a:rPr dirty="0"/>
              <a:t>discipline</a:t>
            </a:r>
            <a:r>
              <a:rPr dirty="0" spc="-15"/>
              <a:t> </a:t>
            </a:r>
            <a:r>
              <a:rPr dirty="0"/>
              <a:t>throughout</a:t>
            </a:r>
            <a:r>
              <a:rPr dirty="0" spc="-15"/>
              <a:t> </a:t>
            </a:r>
            <a:r>
              <a:rPr dirty="0"/>
              <a:t>was</a:t>
            </a:r>
            <a:r>
              <a:rPr dirty="0" spc="-15"/>
              <a:t> </a:t>
            </a:r>
            <a:r>
              <a:rPr dirty="0"/>
              <a:t>following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data</a:t>
            </a:r>
            <a:r>
              <a:rPr dirty="0" spc="-15"/>
              <a:t> </a:t>
            </a:r>
            <a:r>
              <a:rPr dirty="0"/>
              <a:t>even</a:t>
            </a:r>
            <a:r>
              <a:rPr dirty="0" spc="-20"/>
              <a:t> </a:t>
            </a:r>
            <a:r>
              <a:rPr dirty="0"/>
              <a:t>when</a:t>
            </a:r>
            <a:r>
              <a:rPr dirty="0" spc="-15"/>
              <a:t> </a:t>
            </a:r>
            <a:r>
              <a:rPr dirty="0" spc="-25"/>
              <a:t>it </a:t>
            </a:r>
            <a:r>
              <a:rPr dirty="0"/>
              <a:t>contradicted</a:t>
            </a:r>
            <a:r>
              <a:rPr dirty="0" spc="90"/>
              <a:t> </a:t>
            </a:r>
            <a:r>
              <a:rPr dirty="0"/>
              <a:t>the</a:t>
            </a:r>
            <a:r>
              <a:rPr dirty="0" spc="95"/>
              <a:t> </a:t>
            </a:r>
            <a:r>
              <a:rPr dirty="0"/>
              <a:t>popular</a:t>
            </a:r>
            <a:r>
              <a:rPr dirty="0" spc="95"/>
              <a:t> </a:t>
            </a:r>
            <a:r>
              <a:rPr dirty="0"/>
              <a:t>"innovation</a:t>
            </a:r>
            <a:r>
              <a:rPr dirty="0" spc="95"/>
              <a:t> </a:t>
            </a:r>
            <a:r>
              <a:rPr dirty="0"/>
              <a:t>drives</a:t>
            </a:r>
            <a:r>
              <a:rPr dirty="0" spc="90"/>
              <a:t> </a:t>
            </a:r>
            <a:r>
              <a:rPr dirty="0"/>
              <a:t>exports"</a:t>
            </a:r>
            <a:r>
              <a:rPr dirty="0" spc="95"/>
              <a:t> </a:t>
            </a:r>
            <a:r>
              <a:rPr dirty="0"/>
              <a:t>narrative</a:t>
            </a:r>
            <a:r>
              <a:rPr dirty="0" spc="95"/>
              <a:t> </a:t>
            </a:r>
            <a:r>
              <a:rPr dirty="0" spc="1065"/>
              <a:t>—</a:t>
            </a:r>
            <a:r>
              <a:rPr dirty="0" spc="95"/>
              <a:t> </a:t>
            </a:r>
            <a:r>
              <a:rPr dirty="0"/>
              <a:t>several</a:t>
            </a:r>
            <a:r>
              <a:rPr dirty="0" spc="95"/>
              <a:t> </a:t>
            </a:r>
            <a:r>
              <a:rPr dirty="0"/>
              <a:t>hypotheses</a:t>
            </a:r>
            <a:r>
              <a:rPr dirty="0" spc="90"/>
              <a:t> </a:t>
            </a:r>
            <a:r>
              <a:rPr dirty="0"/>
              <a:t>did</a:t>
            </a:r>
            <a:r>
              <a:rPr dirty="0" spc="95"/>
              <a:t> </a:t>
            </a:r>
            <a:r>
              <a:rPr dirty="0"/>
              <a:t>not</a:t>
            </a:r>
            <a:r>
              <a:rPr dirty="0" spc="95"/>
              <a:t> </a:t>
            </a:r>
            <a:r>
              <a:rPr dirty="0"/>
              <a:t>hold</a:t>
            </a:r>
            <a:r>
              <a:rPr dirty="0" spc="95"/>
              <a:t> </a:t>
            </a:r>
            <a:r>
              <a:rPr dirty="0"/>
              <a:t>up,</a:t>
            </a:r>
            <a:r>
              <a:rPr dirty="0" spc="90"/>
              <a:t> </a:t>
            </a:r>
            <a:r>
              <a:rPr dirty="0"/>
              <a:t>and</a:t>
            </a:r>
            <a:r>
              <a:rPr dirty="0" spc="95"/>
              <a:t> </a:t>
            </a:r>
            <a:r>
              <a:rPr dirty="0" spc="-10"/>
              <a:t>reporting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honestly</a:t>
            </a:r>
            <a:r>
              <a:rPr dirty="0" spc="-55"/>
              <a:t> </a:t>
            </a:r>
            <a:r>
              <a:rPr dirty="0"/>
              <a:t>mattered</a:t>
            </a:r>
            <a:r>
              <a:rPr dirty="0" spc="-50"/>
              <a:t> </a:t>
            </a:r>
            <a:r>
              <a:rPr dirty="0"/>
              <a:t>more</a:t>
            </a:r>
            <a:r>
              <a:rPr dirty="0" spc="-55"/>
              <a:t> </a:t>
            </a:r>
            <a:r>
              <a:rPr dirty="0"/>
              <a:t>than</a:t>
            </a:r>
            <a:r>
              <a:rPr dirty="0" spc="-50"/>
              <a:t> </a:t>
            </a:r>
            <a:r>
              <a:rPr dirty="0"/>
              <a:t>forcing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tidier</a:t>
            </a:r>
            <a:r>
              <a:rPr dirty="0" spc="-55"/>
              <a:t> </a:t>
            </a:r>
            <a:r>
              <a:rPr dirty="0" spc="-10"/>
              <a:t>story.</a:t>
            </a:r>
          </a:p>
          <a:p>
            <a:pPr marL="572770">
              <a:lnSpc>
                <a:spcPct val="100000"/>
              </a:lnSpc>
              <a:spcBef>
                <a:spcPts val="480"/>
              </a:spcBef>
            </a:pPr>
            <a:r>
              <a:rPr dirty="0"/>
              <a:t>Findings</a:t>
            </a:r>
            <a:r>
              <a:rPr dirty="0" spc="405"/>
              <a:t> </a:t>
            </a:r>
            <a:r>
              <a:rPr dirty="0"/>
              <a:t>that</a:t>
            </a:r>
            <a:r>
              <a:rPr dirty="0" spc="409"/>
              <a:t> </a:t>
            </a:r>
            <a:r>
              <a:rPr dirty="0"/>
              <a:t>held</a:t>
            </a:r>
            <a:r>
              <a:rPr dirty="0" spc="409"/>
              <a:t> </a:t>
            </a:r>
            <a:r>
              <a:rPr dirty="0"/>
              <a:t>up:</a:t>
            </a:r>
            <a:r>
              <a:rPr dirty="0" spc="409"/>
              <a:t> </a:t>
            </a:r>
            <a:r>
              <a:rPr dirty="0"/>
              <a:t>R&amp;D</a:t>
            </a:r>
            <a:r>
              <a:rPr dirty="0" spc="409"/>
              <a:t> </a:t>
            </a:r>
            <a:r>
              <a:rPr dirty="0"/>
              <a:t>spending</a:t>
            </a:r>
            <a:r>
              <a:rPr dirty="0" spc="409"/>
              <a:t> </a:t>
            </a:r>
            <a:r>
              <a:rPr dirty="0"/>
              <a:t>positively</a:t>
            </a:r>
            <a:r>
              <a:rPr dirty="0" spc="409"/>
              <a:t> </a:t>
            </a:r>
            <a:r>
              <a:rPr dirty="0"/>
              <a:t>linked</a:t>
            </a:r>
            <a:r>
              <a:rPr dirty="0" spc="409"/>
              <a:t> </a:t>
            </a:r>
            <a:r>
              <a:rPr dirty="0"/>
              <a:t>to</a:t>
            </a:r>
            <a:r>
              <a:rPr dirty="0" spc="409"/>
              <a:t> </a:t>
            </a:r>
            <a:r>
              <a:rPr dirty="0"/>
              <a:t>export</a:t>
            </a:r>
            <a:r>
              <a:rPr dirty="0" spc="409"/>
              <a:t> </a:t>
            </a:r>
            <a:r>
              <a:rPr dirty="0"/>
              <a:t>volume</a:t>
            </a:r>
            <a:r>
              <a:rPr dirty="0" spc="409"/>
              <a:t> </a:t>
            </a:r>
            <a:r>
              <a:rPr dirty="0" spc="-20"/>
              <a:t>post-</a:t>
            </a:r>
            <a:r>
              <a:rPr dirty="0"/>
              <a:t>pandemic</a:t>
            </a:r>
            <a:r>
              <a:rPr dirty="0" spc="409"/>
              <a:t> </a:t>
            </a:r>
            <a:r>
              <a:rPr dirty="0"/>
              <a:t>(1%</a:t>
            </a:r>
            <a:r>
              <a:rPr dirty="0" spc="409"/>
              <a:t> </a:t>
            </a:r>
            <a:r>
              <a:rPr dirty="0"/>
              <a:t>rise</a:t>
            </a:r>
            <a:r>
              <a:rPr dirty="0" spc="409"/>
              <a:t> </a:t>
            </a:r>
            <a:r>
              <a:rPr dirty="0"/>
              <a:t>in</a:t>
            </a:r>
            <a:r>
              <a:rPr dirty="0" spc="409"/>
              <a:t> </a:t>
            </a:r>
            <a:r>
              <a:rPr dirty="0"/>
              <a:t>R&amp;D</a:t>
            </a:r>
            <a:r>
              <a:rPr dirty="0" spc="409"/>
              <a:t> </a:t>
            </a:r>
            <a:r>
              <a:rPr dirty="0" spc="-50"/>
              <a:t>→</a:t>
            </a:r>
          </a:p>
          <a:p>
            <a:pPr marL="572770" marR="5080">
              <a:lnSpc>
                <a:spcPct val="115399"/>
              </a:lnSpc>
            </a:pPr>
            <a:r>
              <a:rPr dirty="0"/>
              <a:t>~0.06%</a:t>
            </a:r>
            <a:r>
              <a:rPr dirty="0" spc="35"/>
              <a:t> </a:t>
            </a:r>
            <a:r>
              <a:rPr dirty="0"/>
              <a:t>rise</a:t>
            </a:r>
            <a:r>
              <a:rPr dirty="0" spc="40"/>
              <a:t> </a:t>
            </a:r>
            <a:r>
              <a:rPr dirty="0"/>
              <a:t>in</a:t>
            </a:r>
            <a:r>
              <a:rPr dirty="0" spc="40"/>
              <a:t> </a:t>
            </a:r>
            <a:r>
              <a:rPr dirty="0"/>
              <a:t>exports,</a:t>
            </a:r>
            <a:r>
              <a:rPr dirty="0" spc="40"/>
              <a:t> </a:t>
            </a:r>
            <a:r>
              <a:rPr dirty="0"/>
              <a:t>p</a:t>
            </a:r>
            <a:r>
              <a:rPr dirty="0" spc="40"/>
              <a:t> </a:t>
            </a:r>
            <a:r>
              <a:rPr dirty="0"/>
              <a:t>=</a:t>
            </a:r>
            <a:r>
              <a:rPr dirty="0" spc="40"/>
              <a:t> </a:t>
            </a:r>
            <a:r>
              <a:rPr dirty="0"/>
              <a:t>0.002)</a:t>
            </a:r>
            <a:r>
              <a:rPr dirty="0" spc="40"/>
              <a:t> </a:t>
            </a:r>
            <a:r>
              <a:rPr dirty="0" spc="135"/>
              <a:t>·</a:t>
            </a:r>
            <a:r>
              <a:rPr dirty="0" spc="35"/>
              <a:t> </a:t>
            </a:r>
            <a:r>
              <a:rPr dirty="0"/>
              <a:t>sectoral</a:t>
            </a:r>
            <a:r>
              <a:rPr dirty="0" spc="40"/>
              <a:t> </a:t>
            </a:r>
            <a:r>
              <a:rPr dirty="0"/>
              <a:t>identity</a:t>
            </a:r>
            <a:r>
              <a:rPr dirty="0" spc="40"/>
              <a:t> </a:t>
            </a:r>
            <a:r>
              <a:rPr dirty="0"/>
              <a:t>mattered</a:t>
            </a:r>
            <a:r>
              <a:rPr dirty="0" spc="40"/>
              <a:t> </a:t>
            </a:r>
            <a:r>
              <a:rPr dirty="0"/>
              <a:t>enormously</a:t>
            </a:r>
            <a:r>
              <a:rPr dirty="0" spc="40"/>
              <a:t> </a:t>
            </a:r>
            <a:r>
              <a:rPr dirty="0"/>
              <a:t>(pharma,</a:t>
            </a:r>
            <a:r>
              <a:rPr dirty="0" spc="40"/>
              <a:t> </a:t>
            </a:r>
            <a:r>
              <a:rPr dirty="0"/>
              <a:t>apparel,</a:t>
            </a:r>
            <a:r>
              <a:rPr dirty="0" spc="40"/>
              <a:t> </a:t>
            </a:r>
            <a:r>
              <a:rPr dirty="0"/>
              <a:t>food</a:t>
            </a:r>
            <a:r>
              <a:rPr dirty="0" spc="35"/>
              <a:t> </a:t>
            </a:r>
            <a:r>
              <a:rPr dirty="0"/>
              <a:t>&amp;</a:t>
            </a:r>
            <a:r>
              <a:rPr dirty="0" spc="40"/>
              <a:t> </a:t>
            </a:r>
            <a:r>
              <a:rPr dirty="0" spc="-10"/>
              <a:t>beverages, </a:t>
            </a:r>
            <a:r>
              <a:rPr dirty="0"/>
              <a:t>chemicals</a:t>
            </a:r>
            <a:r>
              <a:rPr dirty="0" spc="280"/>
              <a:t> </a:t>
            </a:r>
            <a:r>
              <a:rPr dirty="0"/>
              <a:t>exported</a:t>
            </a:r>
            <a:r>
              <a:rPr dirty="0" spc="285"/>
              <a:t> </a:t>
            </a:r>
            <a:r>
              <a:rPr dirty="0"/>
              <a:t>significantly</a:t>
            </a:r>
            <a:r>
              <a:rPr dirty="0" spc="280"/>
              <a:t> </a:t>
            </a:r>
            <a:r>
              <a:rPr dirty="0"/>
              <a:t>more;</a:t>
            </a:r>
            <a:r>
              <a:rPr dirty="0" spc="285"/>
              <a:t> </a:t>
            </a:r>
            <a:r>
              <a:rPr dirty="0"/>
              <a:t>construction</a:t>
            </a:r>
            <a:r>
              <a:rPr dirty="0" spc="280"/>
              <a:t> </a:t>
            </a:r>
            <a:r>
              <a:rPr dirty="0"/>
              <a:t>significantly</a:t>
            </a:r>
            <a:r>
              <a:rPr dirty="0" spc="285"/>
              <a:t> </a:t>
            </a:r>
            <a:r>
              <a:rPr dirty="0"/>
              <a:t>less)</a:t>
            </a:r>
            <a:r>
              <a:rPr dirty="0" spc="280"/>
              <a:t> </a:t>
            </a:r>
            <a:r>
              <a:rPr dirty="0" spc="135"/>
              <a:t>·</a:t>
            </a:r>
            <a:r>
              <a:rPr dirty="0" spc="285"/>
              <a:t> </a:t>
            </a:r>
            <a:r>
              <a:rPr dirty="0"/>
              <a:t>imported</a:t>
            </a:r>
            <a:r>
              <a:rPr dirty="0" spc="280"/>
              <a:t> </a:t>
            </a:r>
            <a:r>
              <a:rPr dirty="0"/>
              <a:t>raw</a:t>
            </a:r>
            <a:r>
              <a:rPr dirty="0" spc="285"/>
              <a:t> </a:t>
            </a:r>
            <a:r>
              <a:rPr dirty="0"/>
              <a:t>material</a:t>
            </a:r>
            <a:r>
              <a:rPr dirty="0" spc="280"/>
              <a:t> </a:t>
            </a:r>
            <a:r>
              <a:rPr dirty="0"/>
              <a:t>intensity</a:t>
            </a:r>
            <a:r>
              <a:rPr dirty="0" spc="285"/>
              <a:t> </a:t>
            </a:r>
            <a:r>
              <a:rPr dirty="0" spc="-10"/>
              <a:t>raised </a:t>
            </a:r>
            <a:r>
              <a:rPr dirty="0"/>
              <a:t>export</a:t>
            </a:r>
            <a:r>
              <a:rPr dirty="0" spc="-65"/>
              <a:t> </a:t>
            </a:r>
            <a:r>
              <a:rPr dirty="0"/>
              <a:t>odds</a:t>
            </a:r>
            <a:r>
              <a:rPr dirty="0" spc="-60"/>
              <a:t> </a:t>
            </a:r>
            <a:r>
              <a:rPr dirty="0"/>
              <a:t>by</a:t>
            </a:r>
            <a:r>
              <a:rPr dirty="0" spc="-65"/>
              <a:t> </a:t>
            </a:r>
            <a:r>
              <a:rPr dirty="0"/>
              <a:t>~5.9%</a:t>
            </a:r>
            <a:r>
              <a:rPr dirty="0" spc="-65"/>
              <a:t> </a:t>
            </a:r>
            <a:r>
              <a:rPr dirty="0" spc="135"/>
              <a:t>·</a:t>
            </a:r>
            <a:r>
              <a:rPr dirty="0" spc="-65"/>
              <a:t> </a:t>
            </a:r>
            <a:r>
              <a:rPr dirty="0"/>
              <a:t>salary/wage</a:t>
            </a:r>
            <a:r>
              <a:rPr dirty="0" spc="-60"/>
              <a:t> </a:t>
            </a:r>
            <a:r>
              <a:rPr dirty="0"/>
              <a:t>expenditure</a:t>
            </a:r>
            <a:r>
              <a:rPr dirty="0" spc="-60"/>
              <a:t> </a:t>
            </a:r>
            <a:r>
              <a:rPr dirty="0" spc="-10"/>
              <a:t>consistently</a:t>
            </a:r>
            <a:r>
              <a:rPr dirty="0" spc="-65"/>
              <a:t> </a:t>
            </a:r>
            <a:r>
              <a:rPr dirty="0"/>
              <a:t>predicted</a:t>
            </a:r>
            <a:r>
              <a:rPr dirty="0" spc="-60"/>
              <a:t> </a:t>
            </a:r>
            <a:r>
              <a:rPr dirty="0"/>
              <a:t>export</a:t>
            </a:r>
            <a:r>
              <a:rPr dirty="0" spc="-65"/>
              <a:t> </a:t>
            </a:r>
            <a:r>
              <a:rPr dirty="0" spc="-10"/>
              <a:t>participation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service</a:t>
            </a:r>
            <a:r>
              <a:rPr dirty="0" spc="-60"/>
              <a:t> </a:t>
            </a:r>
            <a:r>
              <a:rPr dirty="0" spc="-10"/>
              <a:t>exports </a:t>
            </a:r>
            <a:r>
              <a:rPr dirty="0"/>
              <a:t>Findings</a:t>
            </a:r>
            <a:r>
              <a:rPr dirty="0" spc="10"/>
              <a:t> </a:t>
            </a:r>
            <a:r>
              <a:rPr dirty="0"/>
              <a:t>that</a:t>
            </a:r>
            <a:r>
              <a:rPr dirty="0" spc="10"/>
              <a:t> </a:t>
            </a:r>
            <a:r>
              <a:rPr dirty="0"/>
              <a:t>did</a:t>
            </a:r>
            <a:r>
              <a:rPr dirty="0" spc="5"/>
              <a:t> </a:t>
            </a:r>
            <a:r>
              <a:rPr dirty="0"/>
              <a:t>not</a:t>
            </a:r>
            <a:r>
              <a:rPr dirty="0" spc="10"/>
              <a:t> </a:t>
            </a:r>
            <a:r>
              <a:rPr dirty="0"/>
              <a:t>hold</a:t>
            </a:r>
            <a:r>
              <a:rPr dirty="0" spc="10"/>
              <a:t> </a:t>
            </a:r>
            <a:r>
              <a:rPr dirty="0"/>
              <a:t>up:</a:t>
            </a:r>
            <a:r>
              <a:rPr dirty="0" spc="10"/>
              <a:t> </a:t>
            </a:r>
            <a:r>
              <a:rPr dirty="0"/>
              <a:t>Digital</a:t>
            </a:r>
            <a:r>
              <a:rPr dirty="0" spc="10"/>
              <a:t> </a:t>
            </a:r>
            <a:r>
              <a:rPr dirty="0"/>
              <a:t>Intensity</a:t>
            </a:r>
            <a:r>
              <a:rPr dirty="0" spc="10"/>
              <a:t> </a:t>
            </a:r>
            <a:r>
              <a:rPr dirty="0"/>
              <a:t>Index</a:t>
            </a:r>
            <a:r>
              <a:rPr dirty="0" spc="10"/>
              <a:t> </a:t>
            </a:r>
            <a:r>
              <a:rPr dirty="0"/>
              <a:t>showed</a:t>
            </a:r>
            <a:r>
              <a:rPr dirty="0" spc="10"/>
              <a:t> </a:t>
            </a:r>
            <a:r>
              <a:rPr dirty="0"/>
              <a:t>no</a:t>
            </a:r>
            <a:r>
              <a:rPr dirty="0" spc="10"/>
              <a:t> </a:t>
            </a:r>
            <a:r>
              <a:rPr dirty="0"/>
              <a:t>significant</a:t>
            </a:r>
            <a:r>
              <a:rPr dirty="0" spc="10"/>
              <a:t> </a:t>
            </a:r>
            <a:r>
              <a:rPr dirty="0"/>
              <a:t>link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export</a:t>
            </a:r>
            <a:r>
              <a:rPr dirty="0" spc="10"/>
              <a:t> </a:t>
            </a:r>
            <a:r>
              <a:rPr dirty="0"/>
              <a:t>intensity</a:t>
            </a:r>
            <a:r>
              <a:rPr dirty="0" spc="10"/>
              <a:t> </a:t>
            </a:r>
            <a:r>
              <a:rPr dirty="0"/>
              <a:t>or</a:t>
            </a:r>
            <a:r>
              <a:rPr dirty="0" spc="10"/>
              <a:t> </a:t>
            </a:r>
            <a:r>
              <a:rPr dirty="0" spc="-10"/>
              <a:t>participation </a:t>
            </a:r>
            <a:r>
              <a:rPr dirty="0"/>
              <a:t>in</a:t>
            </a:r>
            <a:r>
              <a:rPr dirty="0" spc="30"/>
              <a:t> </a:t>
            </a:r>
            <a:r>
              <a:rPr dirty="0"/>
              <a:t>either</a:t>
            </a:r>
            <a:r>
              <a:rPr dirty="0" spc="30"/>
              <a:t> </a:t>
            </a:r>
            <a:r>
              <a:rPr dirty="0"/>
              <a:t>period</a:t>
            </a:r>
            <a:r>
              <a:rPr dirty="0" spc="35"/>
              <a:t> </a:t>
            </a:r>
            <a:r>
              <a:rPr dirty="0" spc="135"/>
              <a:t>·</a:t>
            </a:r>
            <a:r>
              <a:rPr dirty="0" spc="30"/>
              <a:t> </a:t>
            </a:r>
            <a:r>
              <a:rPr dirty="0" spc="-25"/>
              <a:t>royalty/tech-</a:t>
            </a:r>
            <a:r>
              <a:rPr dirty="0"/>
              <a:t>licensing</a:t>
            </a:r>
            <a:r>
              <a:rPr dirty="0" spc="35"/>
              <a:t> </a:t>
            </a:r>
            <a:r>
              <a:rPr dirty="0"/>
              <a:t>payments</a:t>
            </a:r>
            <a:r>
              <a:rPr dirty="0" spc="30"/>
              <a:t> </a:t>
            </a:r>
            <a:r>
              <a:rPr dirty="0"/>
              <a:t>showed</a:t>
            </a:r>
            <a:r>
              <a:rPr dirty="0" spc="35"/>
              <a:t> </a:t>
            </a:r>
            <a:r>
              <a:rPr dirty="0"/>
              <a:t>no</a:t>
            </a:r>
            <a:r>
              <a:rPr dirty="0" spc="30"/>
              <a:t> </a:t>
            </a:r>
            <a:r>
              <a:rPr dirty="0"/>
              <a:t>significant</a:t>
            </a:r>
            <a:r>
              <a:rPr dirty="0" spc="30"/>
              <a:t> </a:t>
            </a:r>
            <a:r>
              <a:rPr dirty="0"/>
              <a:t>export</a:t>
            </a:r>
            <a:r>
              <a:rPr dirty="0" spc="35"/>
              <a:t> </a:t>
            </a:r>
            <a:r>
              <a:rPr dirty="0"/>
              <a:t>effect</a:t>
            </a:r>
            <a:r>
              <a:rPr dirty="0" spc="30"/>
              <a:t> </a:t>
            </a:r>
            <a:r>
              <a:rPr dirty="0" spc="135"/>
              <a:t>·</a:t>
            </a:r>
            <a:r>
              <a:rPr dirty="0" spc="35"/>
              <a:t> </a:t>
            </a:r>
            <a:r>
              <a:rPr dirty="0"/>
              <a:t>R&amp;D</a:t>
            </a:r>
            <a:r>
              <a:rPr dirty="0" spc="30"/>
              <a:t> </a:t>
            </a:r>
            <a:r>
              <a:rPr dirty="0"/>
              <a:t>did</a:t>
            </a:r>
            <a:r>
              <a:rPr dirty="0" spc="35"/>
              <a:t> </a:t>
            </a:r>
            <a:r>
              <a:rPr dirty="0"/>
              <a:t>not</a:t>
            </a:r>
            <a:r>
              <a:rPr dirty="0" spc="30"/>
              <a:t> </a:t>
            </a:r>
            <a:r>
              <a:rPr dirty="0"/>
              <a:t>pay</a:t>
            </a:r>
            <a:r>
              <a:rPr dirty="0" spc="30"/>
              <a:t> </a:t>
            </a:r>
            <a:r>
              <a:rPr dirty="0"/>
              <a:t>off</a:t>
            </a:r>
            <a:r>
              <a:rPr dirty="0" spc="35"/>
              <a:t> </a:t>
            </a:r>
            <a:r>
              <a:rPr dirty="0" spc="-20"/>
              <a:t>more </a:t>
            </a:r>
            <a:r>
              <a:rPr dirty="0"/>
              <a:t>in</a:t>
            </a:r>
            <a:r>
              <a:rPr dirty="0" spc="25"/>
              <a:t> </a:t>
            </a:r>
            <a:r>
              <a:rPr dirty="0" spc="-25"/>
              <a:t>technology-</a:t>
            </a:r>
            <a:r>
              <a:rPr dirty="0"/>
              <a:t>intensive</a:t>
            </a:r>
            <a:r>
              <a:rPr dirty="0" spc="30"/>
              <a:t> </a:t>
            </a:r>
            <a:r>
              <a:rPr dirty="0"/>
              <a:t>sectors</a:t>
            </a:r>
            <a:r>
              <a:rPr dirty="0" spc="25"/>
              <a:t> </a:t>
            </a:r>
            <a:r>
              <a:rPr dirty="0"/>
              <a:t>specifically</a:t>
            </a:r>
            <a:r>
              <a:rPr dirty="0" spc="30"/>
              <a:t> </a:t>
            </a:r>
            <a:r>
              <a:rPr dirty="0" spc="135"/>
              <a:t>·</a:t>
            </a:r>
            <a:r>
              <a:rPr dirty="0" spc="30"/>
              <a:t> </a:t>
            </a:r>
            <a:r>
              <a:rPr dirty="0"/>
              <a:t>digital</a:t>
            </a:r>
            <a:r>
              <a:rPr dirty="0" spc="25"/>
              <a:t> </a:t>
            </a:r>
            <a:r>
              <a:rPr dirty="0"/>
              <a:t>investment's</a:t>
            </a:r>
            <a:r>
              <a:rPr dirty="0" spc="30"/>
              <a:t> </a:t>
            </a:r>
            <a:r>
              <a:rPr dirty="0"/>
              <a:t>export</a:t>
            </a:r>
            <a:r>
              <a:rPr dirty="0" spc="30"/>
              <a:t> </a:t>
            </a:r>
            <a:r>
              <a:rPr dirty="0"/>
              <a:t>effect</a:t>
            </a:r>
            <a:r>
              <a:rPr dirty="0" spc="25"/>
              <a:t> </a:t>
            </a:r>
            <a:r>
              <a:rPr dirty="0"/>
              <a:t>did</a:t>
            </a:r>
            <a:r>
              <a:rPr dirty="0" spc="30"/>
              <a:t> </a:t>
            </a:r>
            <a:r>
              <a:rPr dirty="0"/>
              <a:t>not</a:t>
            </a:r>
            <a:r>
              <a:rPr dirty="0" spc="25"/>
              <a:t> </a:t>
            </a:r>
            <a:r>
              <a:rPr dirty="0"/>
              <a:t>differ</a:t>
            </a:r>
            <a:r>
              <a:rPr dirty="0" spc="30"/>
              <a:t> </a:t>
            </a:r>
            <a:r>
              <a:rPr dirty="0"/>
              <a:t>significantly</a:t>
            </a:r>
            <a:r>
              <a:rPr dirty="0" spc="30"/>
              <a:t> </a:t>
            </a:r>
            <a:r>
              <a:rPr dirty="0" spc="-10"/>
              <a:t>between manufacturing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services</a:t>
            </a:r>
            <a:r>
              <a:rPr dirty="0" spc="-60"/>
              <a:t> </a:t>
            </a:r>
            <a:r>
              <a:rPr dirty="0" spc="-10"/>
              <a:t>firms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185"/>
              <a:t>RI</a:t>
            </a:r>
            <a:r>
              <a:rPr dirty="0" spc="-1110"/>
              <a:t> </a:t>
            </a:r>
            <a:r>
              <a:rPr dirty="0" spc="-1140"/>
              <a:t>-</a:t>
            </a:r>
            <a:r>
              <a:rPr dirty="0" spc="-1110"/>
              <a:t> </a:t>
            </a:r>
            <a:r>
              <a:rPr dirty="0" spc="-1845"/>
              <a:t>CONTINUED</a:t>
            </a: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822" y="4107083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822" y="629783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822" y="8050433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9847" y="1662193"/>
            <a:ext cx="16946245" cy="747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This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project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taught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me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difference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between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plausible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story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defensible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one.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expected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R&amp;D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digital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spending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headline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drivers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export</a:t>
            </a:r>
            <a:r>
              <a:rPr dirty="0" sz="25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success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019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data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pushed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back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hard,</a:t>
            </a:r>
            <a:r>
              <a:rPr dirty="0" sz="2500" spc="1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more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valuable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skill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built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wasn't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running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regressions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but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resisting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urge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spin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null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results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into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something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they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weren't.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Sectoral</a:t>
            </a:r>
            <a:r>
              <a:rPr dirty="0" sz="2500" spc="1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identity,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supply-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chain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integration,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workforce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quality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mattered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more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"innovation"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variables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everyone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assumes</a:t>
            </a:r>
            <a:r>
              <a:rPr dirty="0" sz="2500" spc="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matter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most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019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genuinely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useful,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if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less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flattering,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lesson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letting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evidence</a:t>
            </a:r>
            <a:r>
              <a:rPr dirty="0" sz="2500" spc="-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override</a:t>
            </a:r>
            <a:r>
              <a:rPr dirty="0" sz="2500" spc="-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intuition.</a:t>
            </a:r>
            <a:endParaRPr sz="2500">
              <a:latin typeface="Microsoft Sans Serif"/>
              <a:cs typeface="Microsoft Sans Serif"/>
            </a:endParaRPr>
          </a:p>
          <a:p>
            <a:pPr algn="just" marL="551180" marR="5080">
              <a:lnSpc>
                <a:spcPct val="114999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25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implications: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firms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5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established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export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sectors</a:t>
            </a:r>
            <a:r>
              <a:rPr dirty="0" sz="25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should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keep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investing</a:t>
            </a:r>
            <a:r>
              <a:rPr dirty="0" sz="25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R&amp;D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500" spc="10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reinforce</a:t>
            </a:r>
            <a:r>
              <a:rPr dirty="0" sz="2500" spc="5">
                <a:solidFill>
                  <a:srgbClr val="D3D0CB"/>
                </a:solidFill>
                <a:latin typeface="Microsoft Sans Serif"/>
                <a:cs typeface="Microsoft Sans Serif"/>
              </a:rPr>
              <a:t> 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existing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advantage;</a:t>
            </a:r>
            <a:r>
              <a:rPr dirty="0" sz="25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those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without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one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need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competitive</a:t>
            </a:r>
            <a:r>
              <a:rPr dirty="0" sz="25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product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first,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not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R&amp;D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alone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supply-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chain</a:t>
            </a:r>
            <a:r>
              <a:rPr dirty="0" sz="2500" spc="1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integration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is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11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faster,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cheaper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path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export-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readiness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large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R&amp;D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outlays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high</a:t>
            </a:r>
            <a:r>
              <a:rPr dirty="0" sz="2500" spc="5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digital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spend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isn't</a:t>
            </a:r>
            <a:r>
              <a:rPr dirty="0" sz="2500" spc="5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differentiator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by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itself</a:t>
            </a:r>
            <a:r>
              <a:rPr dirty="0" sz="2500" spc="5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969">
                <a:solidFill>
                  <a:srgbClr val="D3D0CB"/>
                </a:solidFill>
                <a:latin typeface="Microsoft Sans Serif"/>
                <a:cs typeface="Microsoft Sans Serif"/>
              </a:rPr>
              <a:t>—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allocation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matters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more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than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magnitude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policymakers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should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favor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targeted,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sector-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aware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support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over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broad</a:t>
            </a:r>
            <a:r>
              <a:rPr dirty="0" sz="25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R&amp;D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subsidies</a:t>
            </a:r>
            <a:endParaRPr sz="2500">
              <a:latin typeface="Microsoft Sans Serif"/>
              <a:cs typeface="Microsoft Sans Serif"/>
            </a:endParaRPr>
          </a:p>
          <a:p>
            <a:pPr algn="just" marL="551180" marR="5080">
              <a:lnSpc>
                <a:spcPct val="114999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Skills</a:t>
            </a:r>
            <a:r>
              <a:rPr dirty="0" sz="25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demonstrated: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designing/estimating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OLS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&amp;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logistic</a:t>
            </a:r>
            <a:r>
              <a:rPr dirty="0" sz="25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models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with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fixed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effects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on</a:t>
            </a:r>
            <a:r>
              <a:rPr dirty="0" sz="2500" spc="7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9,000+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observation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panel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constructing standardised composite indices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structuring research around a clear literature gap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pre-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/post-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shock</a:t>
            </a:r>
            <a:r>
              <a:rPr dirty="0" sz="2500" spc="45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comparative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design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45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transparent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500" spc="45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null/contradictory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results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translating</a:t>
            </a:r>
            <a:r>
              <a:rPr dirty="0" sz="2500" spc="459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output</a:t>
            </a:r>
            <a:r>
              <a:rPr dirty="0" sz="2500" spc="46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0">
                <a:solidFill>
                  <a:srgbClr val="D3D0CB"/>
                </a:solidFill>
                <a:latin typeface="Microsoft Sans Serif"/>
                <a:cs typeface="Microsoft Sans Serif"/>
              </a:rPr>
              <a:t>into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corporate</a:t>
            </a:r>
            <a:r>
              <a:rPr dirty="0" sz="2500" spc="-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500" spc="-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policy</a:t>
            </a:r>
            <a:r>
              <a:rPr dirty="0" sz="2500" spc="-8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implications</a:t>
            </a:r>
            <a:endParaRPr sz="2500">
              <a:latin typeface="Microsoft Sans Serif"/>
              <a:cs typeface="Microsoft Sans Serif"/>
            </a:endParaRPr>
          </a:p>
          <a:p>
            <a:pPr algn="just" marL="551180" marR="5080">
              <a:lnSpc>
                <a:spcPct val="114999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Key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learnings: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popular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narratives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don't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always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survive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real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testing</a:t>
            </a:r>
            <a:r>
              <a:rPr dirty="0" sz="2500" spc="3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being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willing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be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wrong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is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part</a:t>
            </a:r>
            <a:r>
              <a:rPr dirty="0" sz="2500" spc="3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500" spc="34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rigorous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factors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often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beat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"exciting"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variables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significance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≠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D3D0CB"/>
                </a:solidFill>
                <a:latin typeface="Microsoft Sans Serif"/>
                <a:cs typeface="Microsoft Sans Serif"/>
              </a:rPr>
              <a:t>real-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world</a:t>
            </a:r>
            <a:r>
              <a:rPr dirty="0" sz="2500" spc="4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relevance</a:t>
            </a:r>
            <a:r>
              <a:rPr dirty="0" sz="2500" spc="45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75">
                <a:solidFill>
                  <a:srgbClr val="D3D0CB"/>
                </a:solidFill>
                <a:latin typeface="Microsoft Sans Serif"/>
                <a:cs typeface="Microsoft Sans Serif"/>
              </a:rPr>
              <a:t>·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correlation</a:t>
            </a:r>
            <a:r>
              <a:rPr dirty="0" sz="2500" spc="-5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isn't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causation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019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say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so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plainly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125">
                <a:solidFill>
                  <a:srgbClr val="D3D0CB"/>
                </a:solidFill>
                <a:latin typeface="Microsoft Sans Serif"/>
                <a:cs typeface="Microsoft Sans Serif"/>
              </a:rPr>
              <a:t>·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good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ends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decision,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not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just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2500" spc="-4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coefficient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6585" y="193551"/>
            <a:ext cx="8731885" cy="11811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739"/>
              <a:t>COMPETITION</a:t>
            </a:r>
            <a:r>
              <a:rPr dirty="0" spc="-1095"/>
              <a:t> </a:t>
            </a:r>
            <a:r>
              <a:rPr dirty="0" spc="-1780"/>
              <a:t>AND</a:t>
            </a:r>
            <a:r>
              <a:rPr dirty="0" spc="-1085"/>
              <a:t> </a:t>
            </a:r>
            <a:r>
              <a:rPr dirty="0" spc="-1845"/>
              <a:t>VOLUNTEERING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146" y="3804336"/>
            <a:ext cx="72299" cy="72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146" y="4807490"/>
            <a:ext cx="72299" cy="72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146" y="5810644"/>
            <a:ext cx="72299" cy="72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146" y="6813798"/>
            <a:ext cx="72299" cy="722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6585" y="1282030"/>
            <a:ext cx="16585565" cy="771715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u="sng" sz="2850" spc="-1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COMPETITIONS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200" b="1" i="1">
                <a:solidFill>
                  <a:srgbClr val="D3D0CB"/>
                </a:solidFill>
                <a:latin typeface="Arial"/>
                <a:cs typeface="Arial"/>
              </a:rPr>
              <a:t>Aakriti</a:t>
            </a:r>
            <a:r>
              <a:rPr dirty="0" sz="2200" spc="-5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D3D0CB"/>
                </a:solidFill>
                <a:latin typeface="Arial"/>
                <a:cs typeface="Arial"/>
              </a:rPr>
              <a:t>2k25</a:t>
            </a:r>
            <a:r>
              <a:rPr dirty="0" sz="2200" spc="-4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D3D0CB"/>
                </a:solidFill>
                <a:latin typeface="Arial"/>
                <a:cs typeface="Arial"/>
              </a:rPr>
              <a:t>—</a:t>
            </a:r>
            <a:r>
              <a:rPr dirty="0" sz="2200" spc="-4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D3D0CB"/>
                </a:solidFill>
                <a:latin typeface="Arial"/>
                <a:cs typeface="Arial"/>
              </a:rPr>
              <a:t>1st</a:t>
            </a:r>
            <a:r>
              <a:rPr dirty="0" sz="2200" spc="-4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D3D0CB"/>
                </a:solidFill>
                <a:latin typeface="Arial"/>
                <a:cs typeface="Arial"/>
              </a:rPr>
              <a:t>Place</a:t>
            </a:r>
            <a:r>
              <a:rPr dirty="0" sz="2200" spc="-45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200" spc="-10" b="1" i="1">
                <a:solidFill>
                  <a:srgbClr val="D3D0CB"/>
                </a:solidFill>
                <a:latin typeface="Arial"/>
                <a:cs typeface="Arial"/>
              </a:rPr>
              <a:t>Winner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Arihant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Institute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Commerce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D3D0CB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1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D3D0CB"/>
                </a:solidFill>
                <a:latin typeface="Microsoft Sans Serif"/>
                <a:cs typeface="Microsoft Sans Serif"/>
              </a:rPr>
              <a:t>Bengaluru</a:t>
            </a:r>
            <a:endParaRPr sz="2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D3D0CB"/>
                </a:solidFill>
                <a:latin typeface="Arial"/>
                <a:cs typeface="Arial"/>
              </a:rPr>
              <a:t>Investors</a:t>
            </a:r>
            <a:r>
              <a:rPr dirty="0" sz="2000" spc="-25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D3D0CB"/>
                </a:solidFill>
                <a:latin typeface="Arial"/>
                <a:cs typeface="Arial"/>
              </a:rPr>
              <a:t>Tank</a:t>
            </a:r>
            <a:r>
              <a:rPr dirty="0" sz="2000" spc="-20" b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000" spc="83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Aakriti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2k25,</a:t>
            </a:r>
            <a:r>
              <a:rPr dirty="0" sz="2000" spc="-1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Arihant Institute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Commerce and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Management (Nov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2025)</a:t>
            </a:r>
            <a:r>
              <a:rPr dirty="0" sz="20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83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200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 i="1">
                <a:solidFill>
                  <a:srgbClr val="D3D0CB"/>
                </a:solidFill>
                <a:latin typeface="Arial"/>
                <a:cs typeface="Arial"/>
              </a:rPr>
              <a:t>First</a:t>
            </a:r>
            <a:r>
              <a:rPr dirty="0" sz="2000" spc="-20" b="1" i="1">
                <a:solidFill>
                  <a:srgbClr val="D3D0CB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D3D0CB"/>
                </a:solidFill>
                <a:latin typeface="Arial"/>
                <a:cs typeface="Arial"/>
              </a:rPr>
              <a:t>Place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000">
              <a:latin typeface="Arial"/>
              <a:cs typeface="Arial"/>
            </a:endParaRPr>
          </a:p>
          <a:p>
            <a:pPr marL="426084" marR="5080">
              <a:lnSpc>
                <a:spcPct val="115500"/>
              </a:lnSpc>
              <a:spcBef>
                <a:spcPts val="5"/>
              </a:spcBef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Competed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Investors</a:t>
            </a:r>
            <a:r>
              <a:rPr dirty="0" sz="1900" spc="-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Tank,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investment-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pitch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competition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-8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Aakriti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2k25,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presenting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1900" spc="2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case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panel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judges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as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part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0">
                <a:solidFill>
                  <a:srgbClr val="D3D0CB"/>
                </a:solidFill>
                <a:latin typeface="Microsoft Sans Serif"/>
                <a:cs typeface="Microsoft Sans Serif"/>
              </a:rPr>
              <a:t>a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3 member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team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representing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JAGSoM.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426084" marR="5080">
              <a:lnSpc>
                <a:spcPct val="1155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Secured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first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place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among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participating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teams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institutions,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demonstrating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ability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build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defend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compelling</a:t>
            </a:r>
            <a:r>
              <a:rPr dirty="0" sz="1900" spc="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1900" spc="9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thesis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under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competitive,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time-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bound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conditions.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426084" marR="5080">
              <a:lnSpc>
                <a:spcPct val="1155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Contributed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structuring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narrative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articulating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case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clearly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judging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panel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800">
                <a:solidFill>
                  <a:srgbClr val="D3D0CB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combining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900" spc="49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reasoning</a:t>
            </a:r>
            <a:r>
              <a:rPr dirty="0" sz="1900" spc="484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with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persuasive</a:t>
            </a:r>
            <a:r>
              <a:rPr dirty="0" sz="1900" spc="-3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communication.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426084" marR="5080">
              <a:lnSpc>
                <a:spcPct val="115500"/>
              </a:lnSpc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Represented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JAGSoM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2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external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inter-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collegiate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platform,</a:t>
            </a:r>
            <a:r>
              <a:rPr dirty="0" sz="1900" spc="2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reflecting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strong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1900" spc="2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presentation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skills</a:t>
            </a:r>
            <a:r>
              <a:rPr dirty="0" sz="1900" spc="2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valued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finance,</a:t>
            </a:r>
            <a:r>
              <a:rPr dirty="0" sz="1900" spc="22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consulting,</a:t>
            </a:r>
            <a:r>
              <a:rPr dirty="0" sz="1900" spc="21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D3D0CB"/>
                </a:solidFill>
                <a:latin typeface="Microsoft Sans Serif"/>
                <a:cs typeface="Microsoft Sans Serif"/>
              </a:rPr>
              <a:t>and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analytics-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driven</a:t>
            </a:r>
            <a:r>
              <a:rPr dirty="0" sz="1900" spc="3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roles.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2850" spc="-10" b="1">
                <a:solidFill>
                  <a:srgbClr val="D3D0CB"/>
                </a:solidFill>
                <a:uFill>
                  <a:solidFill>
                    <a:srgbClr val="D3D0CB"/>
                  </a:solidFill>
                </a:uFill>
                <a:latin typeface="Arial"/>
                <a:cs typeface="Arial"/>
              </a:rPr>
              <a:t>Kanyathon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Jagdish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Sheth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School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(JAGSoM),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Race</a:t>
            </a:r>
            <a:r>
              <a:rPr dirty="0" sz="1900" spc="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900" spc="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Department</a:t>
            </a:r>
            <a:endParaRPr sz="1900">
              <a:latin typeface="Microsoft Sans Serif"/>
              <a:cs typeface="Microsoft Sans Serif"/>
            </a:endParaRPr>
          </a:p>
          <a:p>
            <a:pPr marL="164465" indent="-151765">
              <a:lnSpc>
                <a:spcPct val="100000"/>
              </a:lnSpc>
              <a:spcBef>
                <a:spcPts val="355"/>
              </a:spcBef>
              <a:buChar char="•"/>
              <a:tabLst>
                <a:tab pos="164465" algn="l"/>
              </a:tabLst>
            </a:pP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Volunteered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</a:rPr>
              <a:t>student-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driven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annual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D3D0CB"/>
                </a:solidFill>
                <a:latin typeface="Microsoft Sans Serif"/>
                <a:cs typeface="Microsoft Sans Serif"/>
              </a:rPr>
              <a:t>charity</a:t>
            </a:r>
            <a:r>
              <a:rPr dirty="0" sz="1900" spc="-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</a:rPr>
              <a:t>run.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5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5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5808" y="3685237"/>
            <a:ext cx="534035" cy="534035"/>
            <a:chOff x="5945808" y="3685237"/>
            <a:chExt cx="534035" cy="534035"/>
          </a:xfrm>
        </p:grpSpPr>
        <p:sp>
          <p:nvSpPr>
            <p:cNvPr id="3" name="object 3"/>
            <p:cNvSpPr/>
            <p:nvPr/>
          </p:nvSpPr>
          <p:spPr>
            <a:xfrm>
              <a:off x="5945808" y="3685237"/>
              <a:ext cx="534035" cy="532130"/>
            </a:xfrm>
            <a:custGeom>
              <a:avLst/>
              <a:gdLst/>
              <a:ahLst/>
              <a:cxnLst/>
              <a:rect l="l" t="t" r="r" b="b"/>
              <a:pathLst>
                <a:path w="534035" h="532129">
                  <a:moveTo>
                    <a:pt x="202297" y="525643"/>
                  </a:moveTo>
                  <a:lnTo>
                    <a:pt x="154508" y="508790"/>
                  </a:lnTo>
                  <a:lnTo>
                    <a:pt x="111381" y="483593"/>
                  </a:lnTo>
                  <a:lnTo>
                    <a:pt x="73897" y="451031"/>
                  </a:lnTo>
                  <a:lnTo>
                    <a:pt x="43037" y="412085"/>
                  </a:lnTo>
                  <a:lnTo>
                    <a:pt x="19780" y="367736"/>
                  </a:lnTo>
                  <a:lnTo>
                    <a:pt x="5106" y="318963"/>
                  </a:lnTo>
                  <a:lnTo>
                    <a:pt x="0" y="266723"/>
                  </a:lnTo>
                  <a:lnTo>
                    <a:pt x="4295" y="218796"/>
                  </a:lnTo>
                  <a:lnTo>
                    <a:pt x="16687" y="173666"/>
                  </a:lnTo>
                  <a:lnTo>
                    <a:pt x="36419" y="132110"/>
                  </a:lnTo>
                  <a:lnTo>
                    <a:pt x="62737" y="94881"/>
                  </a:lnTo>
                  <a:lnTo>
                    <a:pt x="94888" y="62732"/>
                  </a:lnTo>
                  <a:lnTo>
                    <a:pt x="132118" y="36416"/>
                  </a:lnTo>
                  <a:lnTo>
                    <a:pt x="173674" y="16687"/>
                  </a:lnTo>
                  <a:lnTo>
                    <a:pt x="218800" y="4297"/>
                  </a:lnTo>
                  <a:lnTo>
                    <a:pt x="266745" y="0"/>
                  </a:lnTo>
                  <a:lnTo>
                    <a:pt x="314689" y="4297"/>
                  </a:lnTo>
                  <a:lnTo>
                    <a:pt x="359814" y="16687"/>
                  </a:lnTo>
                  <a:lnTo>
                    <a:pt x="401366" y="36416"/>
                  </a:lnTo>
                  <a:lnTo>
                    <a:pt x="438592" y="62732"/>
                  </a:lnTo>
                  <a:lnTo>
                    <a:pt x="470739" y="94881"/>
                  </a:lnTo>
                  <a:lnTo>
                    <a:pt x="473477" y="98755"/>
                  </a:lnTo>
                  <a:lnTo>
                    <a:pt x="332510" y="98755"/>
                  </a:lnTo>
                  <a:lnTo>
                    <a:pt x="284742" y="103859"/>
                  </a:lnTo>
                  <a:lnTo>
                    <a:pt x="248170" y="119380"/>
                  </a:lnTo>
                  <a:lnTo>
                    <a:pt x="222462" y="145637"/>
                  </a:lnTo>
                  <a:lnTo>
                    <a:pt x="207282" y="182947"/>
                  </a:lnTo>
                  <a:lnTo>
                    <a:pt x="202297" y="231626"/>
                  </a:lnTo>
                  <a:lnTo>
                    <a:pt x="202297" y="266723"/>
                  </a:lnTo>
                  <a:lnTo>
                    <a:pt x="147281" y="266723"/>
                  </a:lnTo>
                  <a:lnTo>
                    <a:pt x="147281" y="348242"/>
                  </a:lnTo>
                  <a:lnTo>
                    <a:pt x="202297" y="348242"/>
                  </a:lnTo>
                  <a:lnTo>
                    <a:pt x="202297" y="525643"/>
                  </a:lnTo>
                  <a:close/>
                </a:path>
                <a:path w="534035" h="532129">
                  <a:moveTo>
                    <a:pt x="518320" y="179268"/>
                  </a:moveTo>
                  <a:lnTo>
                    <a:pt x="390495" y="179268"/>
                  </a:lnTo>
                  <a:lnTo>
                    <a:pt x="390495" y="105387"/>
                  </a:lnTo>
                  <a:lnTo>
                    <a:pt x="378782" y="102947"/>
                  </a:lnTo>
                  <a:lnTo>
                    <a:pt x="363370" y="100823"/>
                  </a:lnTo>
                  <a:lnTo>
                    <a:pt x="347025" y="99323"/>
                  </a:lnTo>
                  <a:lnTo>
                    <a:pt x="332510" y="98755"/>
                  </a:lnTo>
                  <a:lnTo>
                    <a:pt x="473477" y="98755"/>
                  </a:lnTo>
                  <a:lnTo>
                    <a:pt x="497053" y="132110"/>
                  </a:lnTo>
                  <a:lnTo>
                    <a:pt x="516782" y="173666"/>
                  </a:lnTo>
                  <a:lnTo>
                    <a:pt x="518199" y="178828"/>
                  </a:lnTo>
                  <a:lnTo>
                    <a:pt x="518320" y="179268"/>
                  </a:lnTo>
                  <a:close/>
                </a:path>
                <a:path w="534035" h="532129">
                  <a:moveTo>
                    <a:pt x="299041" y="531508"/>
                  </a:moveTo>
                  <a:lnTo>
                    <a:pt x="299041" y="348242"/>
                  </a:lnTo>
                  <a:lnTo>
                    <a:pt x="371199" y="348242"/>
                  </a:lnTo>
                  <a:lnTo>
                    <a:pt x="386162" y="266723"/>
                  </a:lnTo>
                  <a:lnTo>
                    <a:pt x="299041" y="266723"/>
                  </a:lnTo>
                  <a:lnTo>
                    <a:pt x="299041" y="237899"/>
                  </a:lnTo>
                  <a:lnTo>
                    <a:pt x="302366" y="210411"/>
                  </a:lnTo>
                  <a:lnTo>
                    <a:pt x="312960" y="191930"/>
                  </a:lnTo>
                  <a:lnTo>
                    <a:pt x="331755" y="181524"/>
                  </a:lnTo>
                  <a:lnTo>
                    <a:pt x="359683" y="178262"/>
                  </a:lnTo>
                  <a:lnTo>
                    <a:pt x="366512" y="178262"/>
                  </a:lnTo>
                  <a:lnTo>
                    <a:pt x="377818" y="178514"/>
                  </a:lnTo>
                  <a:lnTo>
                    <a:pt x="384933" y="178828"/>
                  </a:lnTo>
                  <a:lnTo>
                    <a:pt x="390495" y="179268"/>
                  </a:lnTo>
                  <a:lnTo>
                    <a:pt x="518320" y="179268"/>
                  </a:lnTo>
                  <a:lnTo>
                    <a:pt x="529172" y="218796"/>
                  </a:lnTo>
                  <a:lnTo>
                    <a:pt x="533467" y="266723"/>
                  </a:lnTo>
                  <a:lnTo>
                    <a:pt x="528813" y="316599"/>
                  </a:lnTo>
                  <a:lnTo>
                    <a:pt x="515414" y="363383"/>
                  </a:lnTo>
                  <a:lnTo>
                    <a:pt x="494121" y="406226"/>
                  </a:lnTo>
                  <a:lnTo>
                    <a:pt x="465786" y="444274"/>
                  </a:lnTo>
                  <a:lnTo>
                    <a:pt x="431259" y="476678"/>
                  </a:lnTo>
                  <a:lnTo>
                    <a:pt x="391392" y="502585"/>
                  </a:lnTo>
                  <a:lnTo>
                    <a:pt x="347036" y="521146"/>
                  </a:lnTo>
                  <a:lnTo>
                    <a:pt x="299041" y="531508"/>
                  </a:lnTo>
                  <a:close/>
                </a:path>
              </a:pathLst>
            </a:custGeom>
            <a:solidFill>
              <a:srgbClr val="08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093113" y="3783993"/>
              <a:ext cx="243840" cy="434975"/>
            </a:xfrm>
            <a:custGeom>
              <a:avLst/>
              <a:gdLst/>
              <a:ahLst/>
              <a:cxnLst/>
              <a:rect l="l" t="t" r="r" b="b"/>
              <a:pathLst>
                <a:path w="243839" h="434975">
                  <a:moveTo>
                    <a:pt x="119464" y="434740"/>
                  </a:moveTo>
                  <a:lnTo>
                    <a:pt x="102913" y="434233"/>
                  </a:lnTo>
                  <a:lnTo>
                    <a:pt x="86638" y="432735"/>
                  </a:lnTo>
                  <a:lnTo>
                    <a:pt x="70664" y="430275"/>
                  </a:lnTo>
                  <a:lnTo>
                    <a:pt x="55015" y="426887"/>
                  </a:lnTo>
                  <a:lnTo>
                    <a:pt x="55015" y="249510"/>
                  </a:lnTo>
                  <a:lnTo>
                    <a:pt x="0" y="249510"/>
                  </a:lnTo>
                  <a:lnTo>
                    <a:pt x="0" y="167992"/>
                  </a:lnTo>
                  <a:lnTo>
                    <a:pt x="55015" y="167992"/>
                  </a:lnTo>
                  <a:lnTo>
                    <a:pt x="55015" y="132871"/>
                  </a:lnTo>
                  <a:lnTo>
                    <a:pt x="60001" y="84191"/>
                  </a:lnTo>
                  <a:lnTo>
                    <a:pt x="75181" y="46882"/>
                  </a:lnTo>
                  <a:lnTo>
                    <a:pt x="137460" y="5103"/>
                  </a:lnTo>
                  <a:lnTo>
                    <a:pt x="185229" y="0"/>
                  </a:lnTo>
                  <a:lnTo>
                    <a:pt x="199743" y="571"/>
                  </a:lnTo>
                  <a:lnTo>
                    <a:pt x="216089" y="2076"/>
                  </a:lnTo>
                  <a:lnTo>
                    <a:pt x="231501" y="4201"/>
                  </a:lnTo>
                  <a:lnTo>
                    <a:pt x="243214" y="6631"/>
                  </a:lnTo>
                  <a:lnTo>
                    <a:pt x="243214" y="80512"/>
                  </a:lnTo>
                  <a:lnTo>
                    <a:pt x="237652" y="80072"/>
                  </a:lnTo>
                  <a:lnTo>
                    <a:pt x="230537" y="79758"/>
                  </a:lnTo>
                  <a:lnTo>
                    <a:pt x="222057" y="79570"/>
                  </a:lnTo>
                  <a:lnTo>
                    <a:pt x="212402" y="79507"/>
                  </a:lnTo>
                  <a:lnTo>
                    <a:pt x="184474" y="82768"/>
                  </a:lnTo>
                  <a:lnTo>
                    <a:pt x="165678" y="93174"/>
                  </a:lnTo>
                  <a:lnTo>
                    <a:pt x="155084" y="111655"/>
                  </a:lnTo>
                  <a:lnTo>
                    <a:pt x="151760" y="139143"/>
                  </a:lnTo>
                  <a:lnTo>
                    <a:pt x="151760" y="167968"/>
                  </a:lnTo>
                  <a:lnTo>
                    <a:pt x="238880" y="167968"/>
                  </a:lnTo>
                  <a:lnTo>
                    <a:pt x="223917" y="249486"/>
                  </a:lnTo>
                  <a:lnTo>
                    <a:pt x="151784" y="249510"/>
                  </a:lnTo>
                  <a:lnTo>
                    <a:pt x="151784" y="432776"/>
                  </a:lnTo>
                  <a:lnTo>
                    <a:pt x="143798" y="433629"/>
                  </a:lnTo>
                  <a:lnTo>
                    <a:pt x="135750" y="434243"/>
                  </a:lnTo>
                  <a:lnTo>
                    <a:pt x="127638" y="434615"/>
                  </a:lnTo>
                  <a:lnTo>
                    <a:pt x="119464" y="4347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806" y="4581894"/>
            <a:ext cx="533399" cy="5333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973921" y="5477504"/>
            <a:ext cx="475615" cy="486409"/>
          </a:xfrm>
          <a:custGeom>
            <a:avLst/>
            <a:gdLst/>
            <a:ahLst/>
            <a:cxnLst/>
            <a:rect l="l" t="t" r="r" b="b"/>
            <a:pathLst>
              <a:path w="475614" h="486410">
                <a:moveTo>
                  <a:pt x="41951" y="485869"/>
                </a:moveTo>
                <a:lnTo>
                  <a:pt x="0" y="485869"/>
                </a:lnTo>
                <a:lnTo>
                  <a:pt x="185655" y="270138"/>
                </a:lnTo>
                <a:lnTo>
                  <a:pt x="0" y="0"/>
                </a:lnTo>
                <a:lnTo>
                  <a:pt x="141593" y="0"/>
                </a:lnTo>
                <a:lnTo>
                  <a:pt x="163288" y="31563"/>
                </a:lnTo>
                <a:lnTo>
                  <a:pt x="57073" y="31563"/>
                </a:lnTo>
                <a:lnTo>
                  <a:pt x="242845" y="297223"/>
                </a:lnTo>
                <a:lnTo>
                  <a:pt x="204284" y="297223"/>
                </a:lnTo>
                <a:lnTo>
                  <a:pt x="41951" y="485869"/>
                </a:lnTo>
                <a:close/>
              </a:path>
              <a:path w="475614" h="486410">
                <a:moveTo>
                  <a:pt x="306324" y="178623"/>
                </a:moveTo>
                <a:lnTo>
                  <a:pt x="264368" y="178623"/>
                </a:lnTo>
                <a:lnTo>
                  <a:pt x="418074" y="0"/>
                </a:lnTo>
                <a:lnTo>
                  <a:pt x="460026" y="0"/>
                </a:lnTo>
                <a:lnTo>
                  <a:pt x="306324" y="178623"/>
                </a:lnTo>
                <a:close/>
              </a:path>
              <a:path w="475614" h="486410">
                <a:moveTo>
                  <a:pt x="454795" y="455704"/>
                </a:moveTo>
                <a:lnTo>
                  <a:pt x="418121" y="455704"/>
                </a:lnTo>
                <a:lnTo>
                  <a:pt x="121518" y="31563"/>
                </a:lnTo>
                <a:lnTo>
                  <a:pt x="163288" y="31563"/>
                </a:lnTo>
                <a:lnTo>
                  <a:pt x="264368" y="178623"/>
                </a:lnTo>
                <a:lnTo>
                  <a:pt x="306324" y="178623"/>
                </a:lnTo>
                <a:lnTo>
                  <a:pt x="282998" y="205731"/>
                </a:lnTo>
                <a:lnTo>
                  <a:pt x="454795" y="455704"/>
                </a:lnTo>
                <a:close/>
              </a:path>
              <a:path w="475614" h="486410">
                <a:moveTo>
                  <a:pt x="475526" y="485869"/>
                </a:moveTo>
                <a:lnTo>
                  <a:pt x="333933" y="485869"/>
                </a:lnTo>
                <a:lnTo>
                  <a:pt x="204284" y="297223"/>
                </a:lnTo>
                <a:lnTo>
                  <a:pt x="242845" y="297223"/>
                </a:lnTo>
                <a:lnTo>
                  <a:pt x="353676" y="455704"/>
                </a:lnTo>
                <a:lnTo>
                  <a:pt x="454795" y="455704"/>
                </a:lnTo>
                <a:lnTo>
                  <a:pt x="475526" y="4858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5973524" y="6332738"/>
            <a:ext cx="533400" cy="513715"/>
            <a:chOff x="5973524" y="6332738"/>
            <a:chExt cx="533400" cy="513715"/>
          </a:xfrm>
        </p:grpSpPr>
        <p:sp>
          <p:nvSpPr>
            <p:cNvPr id="8" name="object 8"/>
            <p:cNvSpPr/>
            <p:nvPr/>
          </p:nvSpPr>
          <p:spPr>
            <a:xfrm>
              <a:off x="5973524" y="6332738"/>
              <a:ext cx="533400" cy="513715"/>
            </a:xfrm>
            <a:custGeom>
              <a:avLst/>
              <a:gdLst/>
              <a:ahLst/>
              <a:cxnLst/>
              <a:rect l="l" t="t" r="r" b="b"/>
              <a:pathLst>
                <a:path w="533400" h="513715">
                  <a:moveTo>
                    <a:pt x="59919" y="195419"/>
                  </a:moveTo>
                  <a:lnTo>
                    <a:pt x="42296" y="195419"/>
                  </a:lnTo>
                  <a:lnTo>
                    <a:pt x="42296" y="17658"/>
                  </a:lnTo>
                  <a:lnTo>
                    <a:pt x="43948" y="10926"/>
                  </a:lnTo>
                  <a:lnTo>
                    <a:pt x="48464" y="5297"/>
                  </a:lnTo>
                  <a:lnTo>
                    <a:pt x="55183" y="1434"/>
                  </a:lnTo>
                  <a:lnTo>
                    <a:pt x="63444" y="0"/>
                  </a:lnTo>
                  <a:lnTo>
                    <a:pt x="459381" y="0"/>
                  </a:lnTo>
                  <a:lnTo>
                    <a:pt x="467642" y="1269"/>
                  </a:lnTo>
                  <a:lnTo>
                    <a:pt x="474361" y="4856"/>
                  </a:lnTo>
                  <a:lnTo>
                    <a:pt x="478877" y="10429"/>
                  </a:lnTo>
                  <a:lnTo>
                    <a:pt x="480529" y="17658"/>
                  </a:lnTo>
                  <a:lnTo>
                    <a:pt x="61094" y="17658"/>
                  </a:lnTo>
                  <a:lnTo>
                    <a:pt x="59919" y="18835"/>
                  </a:lnTo>
                  <a:lnTo>
                    <a:pt x="59919" y="195419"/>
                  </a:lnTo>
                  <a:close/>
                </a:path>
                <a:path w="533400" h="513715">
                  <a:moveTo>
                    <a:pt x="460556" y="18835"/>
                  </a:moveTo>
                  <a:lnTo>
                    <a:pt x="460556" y="17658"/>
                  </a:lnTo>
                  <a:lnTo>
                    <a:pt x="461731" y="17658"/>
                  </a:lnTo>
                  <a:lnTo>
                    <a:pt x="460556" y="18835"/>
                  </a:lnTo>
                  <a:close/>
                </a:path>
                <a:path w="533400" h="513715">
                  <a:moveTo>
                    <a:pt x="296840" y="341395"/>
                  </a:moveTo>
                  <a:lnTo>
                    <a:pt x="266699" y="341395"/>
                  </a:lnTo>
                  <a:lnTo>
                    <a:pt x="461731" y="214254"/>
                  </a:lnTo>
                  <a:lnTo>
                    <a:pt x="461731" y="17658"/>
                  </a:lnTo>
                  <a:lnTo>
                    <a:pt x="480529" y="17658"/>
                  </a:lnTo>
                  <a:lnTo>
                    <a:pt x="480529" y="202482"/>
                  </a:lnTo>
                  <a:lnTo>
                    <a:pt x="522680" y="202482"/>
                  </a:lnTo>
                  <a:lnTo>
                    <a:pt x="525435" y="208368"/>
                  </a:lnTo>
                  <a:lnTo>
                    <a:pt x="504027" y="208368"/>
                  </a:lnTo>
                  <a:lnTo>
                    <a:pt x="334843" y="317850"/>
                  </a:lnTo>
                  <a:lnTo>
                    <a:pt x="348942" y="328445"/>
                  </a:lnTo>
                  <a:lnTo>
                    <a:pt x="317220" y="328445"/>
                  </a:lnTo>
                  <a:lnTo>
                    <a:pt x="296840" y="341395"/>
                  </a:lnTo>
                  <a:close/>
                </a:path>
                <a:path w="533400" h="513715">
                  <a:moveTo>
                    <a:pt x="451157" y="513269"/>
                  </a:moveTo>
                  <a:lnTo>
                    <a:pt x="82242" y="513269"/>
                  </a:lnTo>
                  <a:lnTo>
                    <a:pt x="44113" y="506022"/>
                  </a:lnTo>
                  <a:lnTo>
                    <a:pt x="18651" y="487076"/>
                  </a:lnTo>
                  <a:lnTo>
                    <a:pt x="4424" y="460625"/>
                  </a:lnTo>
                  <a:lnTo>
                    <a:pt x="0" y="430864"/>
                  </a:lnTo>
                  <a:lnTo>
                    <a:pt x="0" y="247217"/>
                  </a:lnTo>
                  <a:lnTo>
                    <a:pt x="9417" y="205499"/>
                  </a:lnTo>
                  <a:lnTo>
                    <a:pt x="28197" y="186001"/>
                  </a:lnTo>
                  <a:lnTo>
                    <a:pt x="42296" y="195419"/>
                  </a:lnTo>
                  <a:lnTo>
                    <a:pt x="59919" y="195419"/>
                  </a:lnTo>
                  <a:lnTo>
                    <a:pt x="59919" y="207191"/>
                  </a:lnTo>
                  <a:lnTo>
                    <a:pt x="28197" y="207191"/>
                  </a:lnTo>
                  <a:lnTo>
                    <a:pt x="22579" y="218908"/>
                  </a:lnTo>
                  <a:lnTo>
                    <a:pt x="19385" y="230294"/>
                  </a:lnTo>
                  <a:lnTo>
                    <a:pt x="17953" y="240135"/>
                  </a:lnTo>
                  <a:lnTo>
                    <a:pt x="17623" y="247217"/>
                  </a:lnTo>
                  <a:lnTo>
                    <a:pt x="17623" y="442636"/>
                  </a:lnTo>
                  <a:lnTo>
                    <a:pt x="19973" y="450876"/>
                  </a:lnTo>
                  <a:lnTo>
                    <a:pt x="48861" y="450876"/>
                  </a:lnTo>
                  <a:lnTo>
                    <a:pt x="27022" y="467357"/>
                  </a:lnTo>
                  <a:lnTo>
                    <a:pt x="34824" y="478228"/>
                  </a:lnTo>
                  <a:lnTo>
                    <a:pt x="46261" y="487223"/>
                  </a:lnTo>
                  <a:lnTo>
                    <a:pt x="61883" y="493348"/>
                  </a:lnTo>
                  <a:lnTo>
                    <a:pt x="82242" y="495611"/>
                  </a:lnTo>
                  <a:lnTo>
                    <a:pt x="506147" y="495611"/>
                  </a:lnTo>
                  <a:lnTo>
                    <a:pt x="480860" y="509002"/>
                  </a:lnTo>
                  <a:lnTo>
                    <a:pt x="451157" y="513269"/>
                  </a:lnTo>
                  <a:close/>
                </a:path>
                <a:path w="533400" h="513715">
                  <a:moveTo>
                    <a:pt x="522680" y="202482"/>
                  </a:moveTo>
                  <a:lnTo>
                    <a:pt x="480529" y="202482"/>
                  </a:lnTo>
                  <a:lnTo>
                    <a:pt x="502852" y="188355"/>
                  </a:lnTo>
                  <a:lnTo>
                    <a:pt x="506377" y="186001"/>
                  </a:lnTo>
                  <a:lnTo>
                    <a:pt x="511076" y="186001"/>
                  </a:lnTo>
                  <a:lnTo>
                    <a:pt x="513426" y="189533"/>
                  </a:lnTo>
                  <a:lnTo>
                    <a:pt x="521999" y="201029"/>
                  </a:lnTo>
                  <a:lnTo>
                    <a:pt x="522680" y="202482"/>
                  </a:lnTo>
                  <a:close/>
                </a:path>
                <a:path w="533400" h="513715">
                  <a:moveTo>
                    <a:pt x="48861" y="450876"/>
                  </a:moveTo>
                  <a:lnTo>
                    <a:pt x="19973" y="450876"/>
                  </a:lnTo>
                  <a:lnTo>
                    <a:pt x="196206" y="316673"/>
                  </a:lnTo>
                  <a:lnTo>
                    <a:pt x="28197" y="207191"/>
                  </a:lnTo>
                  <a:lnTo>
                    <a:pt x="59919" y="207191"/>
                  </a:lnTo>
                  <a:lnTo>
                    <a:pt x="244933" y="327268"/>
                  </a:lnTo>
                  <a:lnTo>
                    <a:pt x="212655" y="327268"/>
                  </a:lnTo>
                  <a:lnTo>
                    <a:pt x="48861" y="450876"/>
                  </a:lnTo>
                  <a:close/>
                </a:path>
                <a:path w="533400" h="513715">
                  <a:moveTo>
                    <a:pt x="529439" y="452054"/>
                  </a:moveTo>
                  <a:lnTo>
                    <a:pt x="513426" y="452054"/>
                  </a:lnTo>
                  <a:lnTo>
                    <a:pt x="514601" y="446167"/>
                  </a:lnTo>
                  <a:lnTo>
                    <a:pt x="515776" y="439104"/>
                  </a:lnTo>
                  <a:lnTo>
                    <a:pt x="515776" y="430864"/>
                  </a:lnTo>
                  <a:lnTo>
                    <a:pt x="514601" y="430864"/>
                  </a:lnTo>
                  <a:lnTo>
                    <a:pt x="514535" y="247217"/>
                  </a:lnTo>
                  <a:lnTo>
                    <a:pt x="513940" y="236677"/>
                  </a:lnTo>
                  <a:lnTo>
                    <a:pt x="511958" y="226174"/>
                  </a:lnTo>
                  <a:lnTo>
                    <a:pt x="508653" y="216774"/>
                  </a:lnTo>
                  <a:lnTo>
                    <a:pt x="504027" y="208368"/>
                  </a:lnTo>
                  <a:lnTo>
                    <a:pt x="525435" y="208368"/>
                  </a:lnTo>
                  <a:lnTo>
                    <a:pt x="528190" y="214254"/>
                  </a:lnTo>
                  <a:lnTo>
                    <a:pt x="528259" y="214401"/>
                  </a:lnTo>
                  <a:lnTo>
                    <a:pt x="532096" y="229761"/>
                  </a:lnTo>
                  <a:lnTo>
                    <a:pt x="533399" y="247217"/>
                  </a:lnTo>
                  <a:lnTo>
                    <a:pt x="533399" y="430864"/>
                  </a:lnTo>
                  <a:lnTo>
                    <a:pt x="529439" y="452054"/>
                  </a:lnTo>
                  <a:close/>
                </a:path>
                <a:path w="533400" h="513715">
                  <a:moveTo>
                    <a:pt x="267874" y="360230"/>
                  </a:moveTo>
                  <a:lnTo>
                    <a:pt x="264350" y="360230"/>
                  </a:lnTo>
                  <a:lnTo>
                    <a:pt x="263175" y="359053"/>
                  </a:lnTo>
                  <a:lnTo>
                    <a:pt x="262000" y="359053"/>
                  </a:lnTo>
                  <a:lnTo>
                    <a:pt x="212655" y="327268"/>
                  </a:lnTo>
                  <a:lnTo>
                    <a:pt x="244933" y="327268"/>
                  </a:lnTo>
                  <a:lnTo>
                    <a:pt x="266699" y="341395"/>
                  </a:lnTo>
                  <a:lnTo>
                    <a:pt x="296840" y="341395"/>
                  </a:lnTo>
                  <a:lnTo>
                    <a:pt x="269049" y="359053"/>
                  </a:lnTo>
                  <a:lnTo>
                    <a:pt x="267874" y="360230"/>
                  </a:lnTo>
                  <a:close/>
                </a:path>
                <a:path w="533400" h="513715">
                  <a:moveTo>
                    <a:pt x="506147" y="495611"/>
                  </a:moveTo>
                  <a:lnTo>
                    <a:pt x="451157" y="495611"/>
                  </a:lnTo>
                  <a:lnTo>
                    <a:pt x="462062" y="494875"/>
                  </a:lnTo>
                  <a:lnTo>
                    <a:pt x="476711" y="491491"/>
                  </a:lnTo>
                  <a:lnTo>
                    <a:pt x="491801" y="483691"/>
                  </a:lnTo>
                  <a:lnTo>
                    <a:pt x="504027" y="469712"/>
                  </a:lnTo>
                  <a:lnTo>
                    <a:pt x="317220" y="328445"/>
                  </a:lnTo>
                  <a:lnTo>
                    <a:pt x="348942" y="328445"/>
                  </a:lnTo>
                  <a:lnTo>
                    <a:pt x="513426" y="452054"/>
                  </a:lnTo>
                  <a:lnTo>
                    <a:pt x="529439" y="452054"/>
                  </a:lnTo>
                  <a:lnTo>
                    <a:pt x="526166" y="469565"/>
                  </a:lnTo>
                  <a:lnTo>
                    <a:pt x="507367" y="494875"/>
                  </a:lnTo>
                  <a:lnTo>
                    <a:pt x="507258" y="495022"/>
                  </a:lnTo>
                  <a:lnTo>
                    <a:pt x="506147" y="4956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7982" y="6396308"/>
              <a:ext cx="160959" cy="16127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3524" y="7212374"/>
            <a:ext cx="533399" cy="533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3524" y="8107984"/>
            <a:ext cx="533399" cy="533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3923470"/>
            <a:ext cx="104775" cy="104774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248595" y="-268511"/>
            <a:ext cx="7506334" cy="4428490"/>
          </a:xfrm>
          <a:prstGeom prst="rect"/>
        </p:spPr>
        <p:txBody>
          <a:bodyPr wrap="square" lIns="0" tIns="1147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35"/>
              </a:spcBef>
            </a:pPr>
            <a:r>
              <a:rPr dirty="0" sz="17450" spc="-4550">
                <a:solidFill>
                  <a:srgbClr val="000000"/>
                </a:solidFill>
              </a:rPr>
              <a:t>CON</a:t>
            </a:r>
            <a:r>
              <a:rPr dirty="0" sz="17450" spc="-5255">
                <a:solidFill>
                  <a:srgbClr val="000000"/>
                </a:solidFill>
              </a:rPr>
              <a:t>T</a:t>
            </a:r>
            <a:r>
              <a:rPr dirty="0" sz="17450" spc="-4550">
                <a:solidFill>
                  <a:srgbClr val="000000"/>
                </a:solidFill>
              </a:rPr>
              <a:t>AC</a:t>
            </a:r>
            <a:r>
              <a:rPr dirty="0" sz="17450" spc="-4540">
                <a:solidFill>
                  <a:srgbClr val="000000"/>
                </a:solidFill>
              </a:rPr>
              <a:t>T</a:t>
            </a:r>
            <a:r>
              <a:rPr dirty="0" sz="17450" spc="-2530">
                <a:solidFill>
                  <a:srgbClr val="000000"/>
                </a:solidFill>
              </a:rPr>
              <a:t> </a:t>
            </a:r>
            <a:r>
              <a:rPr dirty="0" sz="17450" spc="-4020">
                <a:solidFill>
                  <a:srgbClr val="000000"/>
                </a:solidFill>
              </a:rPr>
              <a:t>ME</a:t>
            </a:r>
            <a:endParaRPr sz="17450"/>
          </a:p>
          <a:p>
            <a:pPr algn="ctr" marR="61594">
              <a:lnSpc>
                <a:spcPct val="100000"/>
              </a:lnSpc>
              <a:spcBef>
                <a:spcPts val="1430"/>
              </a:spcBef>
            </a:pPr>
            <a:r>
              <a:rPr dirty="0" sz="2800" spc="-80" b="1">
                <a:solidFill>
                  <a:srgbClr val="000000"/>
                </a:solidFill>
                <a:latin typeface="Arial"/>
                <a:cs typeface="Arial"/>
              </a:rPr>
              <a:t>Indranil</a:t>
            </a:r>
            <a:r>
              <a:rPr dirty="0" sz="2800" spc="-1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0000"/>
                </a:solidFill>
                <a:latin typeface="Arial"/>
                <a:cs typeface="Arial"/>
              </a:rPr>
              <a:t>Majumder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4820127"/>
            <a:ext cx="104775" cy="1047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99999" y="4604258"/>
            <a:ext cx="4320540" cy="398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Arial"/>
                <a:cs typeface="Arial"/>
              </a:rPr>
              <a:t>indranilhere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6690"/>
              </a:lnSpc>
              <a:spcBef>
                <a:spcPts val="710"/>
              </a:spcBef>
            </a:pPr>
            <a:r>
              <a:rPr dirty="0" sz="2800" spc="-10" b="1">
                <a:latin typeface="Arial"/>
                <a:cs typeface="Arial"/>
              </a:rPr>
              <a:t>@indraquotes02 </a:t>
            </a:r>
            <a:r>
              <a:rPr dirty="0" sz="2800" spc="-80" b="1">
                <a:latin typeface="Arial"/>
                <a:cs typeface="Arial"/>
                <a:hlinkClick r:id="rId7"/>
              </a:rPr>
              <a:t>imajumder349@gmail.com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latin typeface="Arial"/>
                <a:cs typeface="Arial"/>
              </a:rPr>
              <a:t>8250799346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latin typeface="Arial"/>
                <a:cs typeface="Arial"/>
              </a:rPr>
              <a:t>indra1250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5661271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6511204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7450607"/>
            <a:ext cx="104775" cy="1047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2158" y="8351585"/>
            <a:ext cx="104775" cy="10477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790829" y="219074"/>
                </a:moveTo>
                <a:lnTo>
                  <a:pt x="1774485" y="219074"/>
                </a:lnTo>
                <a:lnTo>
                  <a:pt x="1772374" y="217843"/>
                </a:lnTo>
                <a:lnTo>
                  <a:pt x="1770631" y="211308"/>
                </a:lnTo>
                <a:lnTo>
                  <a:pt x="1776963" y="200388"/>
                </a:lnTo>
                <a:lnTo>
                  <a:pt x="1800027" y="168583"/>
                </a:lnTo>
                <a:lnTo>
                  <a:pt x="1826236" y="140692"/>
                </a:lnTo>
                <a:lnTo>
                  <a:pt x="1847312" y="122863"/>
                </a:lnTo>
                <a:lnTo>
                  <a:pt x="4792" y="122863"/>
                </a:lnTo>
                <a:lnTo>
                  <a:pt x="0" y="118071"/>
                </a:lnTo>
                <a:lnTo>
                  <a:pt x="0" y="105871"/>
                </a:lnTo>
                <a:lnTo>
                  <a:pt x="4792" y="101079"/>
                </a:lnTo>
                <a:lnTo>
                  <a:pt x="1847748" y="101079"/>
                </a:lnTo>
                <a:lnTo>
                  <a:pt x="1840995" y="95606"/>
                </a:lnTo>
                <a:lnTo>
                  <a:pt x="1800524" y="55359"/>
                </a:lnTo>
                <a:lnTo>
                  <a:pt x="1777582" y="23554"/>
                </a:lnTo>
                <a:lnTo>
                  <a:pt x="1771067" y="12634"/>
                </a:lnTo>
                <a:lnTo>
                  <a:pt x="1772810" y="6099"/>
                </a:lnTo>
                <a:lnTo>
                  <a:pt x="1783266" y="0"/>
                </a:lnTo>
                <a:lnTo>
                  <a:pt x="1789802" y="1742"/>
                </a:lnTo>
                <a:lnTo>
                  <a:pt x="1792852" y="6970"/>
                </a:lnTo>
                <a:lnTo>
                  <a:pt x="1795711" y="11668"/>
                </a:lnTo>
                <a:lnTo>
                  <a:pt x="1834678" y="60560"/>
                </a:lnTo>
                <a:lnTo>
                  <a:pt x="1871275" y="90895"/>
                </a:lnTo>
                <a:lnTo>
                  <a:pt x="1890010" y="102822"/>
                </a:lnTo>
                <a:lnTo>
                  <a:pt x="1891752" y="104564"/>
                </a:lnTo>
                <a:lnTo>
                  <a:pt x="1892188" y="105436"/>
                </a:lnTo>
                <a:lnTo>
                  <a:pt x="1892188" y="105871"/>
                </a:lnTo>
                <a:lnTo>
                  <a:pt x="1893060" y="106743"/>
                </a:lnTo>
                <a:lnTo>
                  <a:pt x="1893060" y="113714"/>
                </a:lnTo>
                <a:lnTo>
                  <a:pt x="1892624" y="114149"/>
                </a:lnTo>
                <a:lnTo>
                  <a:pt x="1892188" y="115021"/>
                </a:lnTo>
                <a:lnTo>
                  <a:pt x="1892188" y="115892"/>
                </a:lnTo>
                <a:lnTo>
                  <a:pt x="1891753" y="118071"/>
                </a:lnTo>
                <a:lnTo>
                  <a:pt x="1891317" y="118942"/>
                </a:lnTo>
                <a:lnTo>
                  <a:pt x="1890010" y="120249"/>
                </a:lnTo>
                <a:lnTo>
                  <a:pt x="1889138" y="120685"/>
                </a:lnTo>
                <a:lnTo>
                  <a:pt x="1888703" y="121556"/>
                </a:lnTo>
                <a:lnTo>
                  <a:pt x="1887831" y="121556"/>
                </a:lnTo>
                <a:lnTo>
                  <a:pt x="1882950" y="124347"/>
                </a:lnTo>
                <a:lnTo>
                  <a:pt x="1834242" y="162946"/>
                </a:lnTo>
                <a:lnTo>
                  <a:pt x="1803526" y="199544"/>
                </a:lnTo>
                <a:lnTo>
                  <a:pt x="1795275" y="211839"/>
                </a:lnTo>
                <a:lnTo>
                  <a:pt x="1790829" y="219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8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8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61625" y="2154367"/>
            <a:ext cx="5281930" cy="5968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4965"/>
              </a:lnSpc>
            </a:pPr>
            <a:r>
              <a:rPr dirty="0" sz="39150" spc="-36405">
                <a:solidFill>
                  <a:srgbClr val="D3D0CB"/>
                </a:solidFill>
                <a:latin typeface="Trebuchet MS"/>
                <a:cs typeface="Trebuchet MS"/>
              </a:rPr>
              <a:t>Y</a:t>
            </a:r>
            <a:r>
              <a:rPr dirty="0" sz="41750" spc="-16400">
                <a:solidFill>
                  <a:srgbClr val="D3D0CB"/>
                </a:solidFill>
                <a:latin typeface="Arial MT"/>
                <a:cs typeface="Arial MT"/>
              </a:rPr>
              <a:t>Y</a:t>
            </a:r>
            <a:r>
              <a:rPr dirty="0" sz="39150" spc="-40365">
                <a:solidFill>
                  <a:srgbClr val="D3D0CB"/>
                </a:solidFill>
                <a:latin typeface="Trebuchet MS"/>
                <a:cs typeface="Trebuchet MS"/>
              </a:rPr>
              <a:t>O</a:t>
            </a:r>
            <a:r>
              <a:rPr dirty="0" sz="41750" spc="-14075">
                <a:solidFill>
                  <a:srgbClr val="D3D0CB"/>
                </a:solidFill>
                <a:latin typeface="Arial MT"/>
                <a:cs typeface="Arial MT"/>
              </a:rPr>
              <a:t>O</a:t>
            </a:r>
            <a:r>
              <a:rPr dirty="0" sz="41750" spc="-44045">
                <a:solidFill>
                  <a:srgbClr val="D3D0CB"/>
                </a:solidFill>
                <a:latin typeface="Arial MT"/>
                <a:cs typeface="Arial MT"/>
              </a:rPr>
              <a:t>U</a:t>
            </a:r>
            <a:r>
              <a:rPr dirty="0" sz="39150" spc="-13700">
                <a:solidFill>
                  <a:srgbClr val="D3D0CB"/>
                </a:solidFill>
                <a:latin typeface="Trebuchet MS"/>
                <a:cs typeface="Trebuchet MS"/>
              </a:rPr>
              <a:t>U</a:t>
            </a:r>
            <a:endParaRPr sz="391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57699" y="1121314"/>
            <a:ext cx="1893570" cy="219075"/>
          </a:xfrm>
          <a:custGeom>
            <a:avLst/>
            <a:gdLst/>
            <a:ahLst/>
            <a:cxnLst/>
            <a:rect l="l" t="t" r="r" b="b"/>
            <a:pathLst>
              <a:path w="1893569" h="219075">
                <a:moveTo>
                  <a:pt x="102230" y="219074"/>
                </a:moveTo>
                <a:lnTo>
                  <a:pt x="118574" y="219074"/>
                </a:lnTo>
                <a:lnTo>
                  <a:pt x="120685" y="217843"/>
                </a:lnTo>
                <a:lnTo>
                  <a:pt x="122428" y="211308"/>
                </a:lnTo>
                <a:lnTo>
                  <a:pt x="116096" y="200388"/>
                </a:lnTo>
                <a:lnTo>
                  <a:pt x="93032" y="168583"/>
                </a:lnTo>
                <a:lnTo>
                  <a:pt x="66823" y="140692"/>
                </a:lnTo>
                <a:lnTo>
                  <a:pt x="45747" y="122863"/>
                </a:lnTo>
                <a:lnTo>
                  <a:pt x="1888267" y="122863"/>
                </a:lnTo>
                <a:lnTo>
                  <a:pt x="1893060" y="118071"/>
                </a:lnTo>
                <a:lnTo>
                  <a:pt x="1893060" y="105871"/>
                </a:lnTo>
                <a:lnTo>
                  <a:pt x="1888267" y="101079"/>
                </a:lnTo>
                <a:lnTo>
                  <a:pt x="45311" y="101079"/>
                </a:lnTo>
                <a:lnTo>
                  <a:pt x="52064" y="95606"/>
                </a:lnTo>
                <a:lnTo>
                  <a:pt x="92535" y="55359"/>
                </a:lnTo>
                <a:lnTo>
                  <a:pt x="115477" y="23554"/>
                </a:lnTo>
                <a:lnTo>
                  <a:pt x="121992" y="12634"/>
                </a:lnTo>
                <a:lnTo>
                  <a:pt x="120249" y="6099"/>
                </a:lnTo>
                <a:lnTo>
                  <a:pt x="109793" y="0"/>
                </a:lnTo>
                <a:lnTo>
                  <a:pt x="103257" y="1742"/>
                </a:lnTo>
                <a:lnTo>
                  <a:pt x="100208" y="6970"/>
                </a:lnTo>
                <a:lnTo>
                  <a:pt x="97348" y="11668"/>
                </a:lnTo>
                <a:lnTo>
                  <a:pt x="58382" y="60560"/>
                </a:lnTo>
                <a:lnTo>
                  <a:pt x="21784" y="90895"/>
                </a:lnTo>
                <a:lnTo>
                  <a:pt x="3049" y="102822"/>
                </a:lnTo>
                <a:lnTo>
                  <a:pt x="1307" y="104564"/>
                </a:lnTo>
                <a:lnTo>
                  <a:pt x="871" y="105436"/>
                </a:lnTo>
                <a:lnTo>
                  <a:pt x="871" y="105871"/>
                </a:lnTo>
                <a:lnTo>
                  <a:pt x="0" y="106743"/>
                </a:lnTo>
                <a:lnTo>
                  <a:pt x="0" y="113714"/>
                </a:lnTo>
                <a:lnTo>
                  <a:pt x="435" y="114149"/>
                </a:lnTo>
                <a:lnTo>
                  <a:pt x="871" y="115021"/>
                </a:lnTo>
                <a:lnTo>
                  <a:pt x="871" y="115892"/>
                </a:lnTo>
                <a:lnTo>
                  <a:pt x="1307" y="118071"/>
                </a:lnTo>
                <a:lnTo>
                  <a:pt x="1742" y="118942"/>
                </a:lnTo>
                <a:lnTo>
                  <a:pt x="3049" y="120249"/>
                </a:lnTo>
                <a:lnTo>
                  <a:pt x="3921" y="120685"/>
                </a:lnTo>
                <a:lnTo>
                  <a:pt x="4356" y="121556"/>
                </a:lnTo>
                <a:lnTo>
                  <a:pt x="5228" y="121556"/>
                </a:lnTo>
                <a:lnTo>
                  <a:pt x="10109" y="124347"/>
                </a:lnTo>
                <a:lnTo>
                  <a:pt x="58817" y="162946"/>
                </a:lnTo>
                <a:lnTo>
                  <a:pt x="89533" y="199544"/>
                </a:lnTo>
                <a:lnTo>
                  <a:pt x="97784" y="211839"/>
                </a:lnTo>
                <a:lnTo>
                  <a:pt x="102230" y="219074"/>
                </a:lnTo>
                <a:close/>
              </a:path>
            </a:pathLst>
          </a:custGeom>
          <a:solidFill>
            <a:srgbClr val="FFF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9068" y="2633588"/>
            <a:ext cx="5958931" cy="765341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31791" y="1464867"/>
            <a:ext cx="15194280" cy="6417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150" spc="-33700"/>
              <a:t>T</a:t>
            </a:r>
            <a:r>
              <a:rPr dirty="0" sz="41950" spc="-36605">
                <a:latin typeface="Arial MT"/>
                <a:cs typeface="Arial MT"/>
              </a:rPr>
              <a:t>T</a:t>
            </a:r>
            <a:r>
              <a:rPr dirty="0" sz="41750" spc="-13505">
                <a:latin typeface="Arial MT"/>
                <a:cs typeface="Arial MT"/>
              </a:rPr>
              <a:t>T</a:t>
            </a:r>
            <a:r>
              <a:rPr dirty="0" sz="41750" spc="-41015">
                <a:latin typeface="Arial MT"/>
                <a:cs typeface="Arial MT"/>
              </a:rPr>
              <a:t>H</a:t>
            </a:r>
            <a:r>
              <a:rPr dirty="0" sz="39150" spc="-10780"/>
              <a:t>H</a:t>
            </a:r>
            <a:r>
              <a:rPr dirty="0" sz="39150" spc="-34035"/>
              <a:t>A</a:t>
            </a:r>
            <a:r>
              <a:rPr dirty="0" sz="41600" spc="-38555">
                <a:latin typeface="Arial MT"/>
                <a:cs typeface="Arial MT"/>
              </a:rPr>
              <a:t>A</a:t>
            </a:r>
            <a:r>
              <a:rPr dirty="0" sz="41750" spc="-13194">
                <a:latin typeface="Arial MT"/>
                <a:cs typeface="Arial MT"/>
              </a:rPr>
              <a:t>A</a:t>
            </a:r>
            <a:r>
              <a:rPr dirty="0" sz="41750" spc="-41095">
                <a:latin typeface="Arial MT"/>
                <a:cs typeface="Arial MT"/>
              </a:rPr>
              <a:t>N</a:t>
            </a:r>
            <a:r>
              <a:rPr dirty="0" sz="39150" spc="-10780"/>
              <a:t>N</a:t>
            </a:r>
            <a:r>
              <a:rPr dirty="0" sz="39150" spc="-33380"/>
              <a:t>K</a:t>
            </a:r>
            <a:r>
              <a:rPr dirty="0" sz="41950" spc="-38945">
                <a:latin typeface="Arial MT"/>
                <a:cs typeface="Arial MT"/>
              </a:rPr>
              <a:t>K</a:t>
            </a:r>
            <a:r>
              <a:rPr dirty="0" sz="41750" spc="-10780">
                <a:latin typeface="Arial MT"/>
                <a:cs typeface="Arial MT"/>
              </a:rPr>
              <a:t>K</a:t>
            </a:r>
            <a:r>
              <a:rPr dirty="0" sz="41750" spc="-6834">
                <a:latin typeface="Arial MT"/>
                <a:cs typeface="Arial MT"/>
              </a:rPr>
              <a:t> </a:t>
            </a:r>
            <a:r>
              <a:rPr dirty="0" sz="41950" spc="-18235">
                <a:latin typeface="Arial MT"/>
                <a:cs typeface="Arial MT"/>
              </a:rPr>
              <a:t>Y</a:t>
            </a:r>
            <a:r>
              <a:rPr dirty="0" sz="41950" spc="-15885">
                <a:latin typeface="Arial MT"/>
                <a:cs typeface="Arial MT"/>
              </a:rPr>
              <a:t>OU</a:t>
            </a:r>
            <a:endParaRPr sz="41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09599" y="9464212"/>
            <a:ext cx="600646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https://github.com/indra1250/indranil-majumder-</a:t>
            </a:r>
            <a:r>
              <a:rPr dirty="0" sz="1900" spc="-10">
                <a:solidFill>
                  <a:srgbClr val="D3D0CB"/>
                </a:solidFill>
                <a:latin typeface="Microsoft Sans Serif"/>
                <a:cs typeface="Microsoft Sans Serif"/>
                <a:hlinkClick r:id="rId3"/>
              </a:rPr>
              <a:t>portfolio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585" y="9561621"/>
            <a:ext cx="338264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500">
                <a:solidFill>
                  <a:srgbClr val="D3D0CB"/>
                </a:solidFill>
                <a:latin typeface="Microsoft Sans Serif"/>
                <a:cs typeface="Microsoft Sans Serif"/>
              </a:rPr>
              <a:t>INDRANIL</a:t>
            </a:r>
            <a:r>
              <a:rPr dirty="0" sz="2500" spc="-105">
                <a:solidFill>
                  <a:srgbClr val="D3D0CB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D3D0CB"/>
                </a:solidFill>
                <a:latin typeface="Microsoft Sans Serif"/>
                <a:cs typeface="Microsoft Sans Serif"/>
              </a:rPr>
              <a:t>MAJUMDER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Indranil Majumder</dc:creator>
  <cp:keywords>DAHTwpbt-WA,BAE3SGC0t_A</cp:keywords>
  <dc:title>Brown and White Minimalist Portfolio Presentation</dc:title>
  <dcterms:created xsi:type="dcterms:W3CDTF">2026-08-30T16:47:32Z</dcterms:created>
  <dcterms:modified xsi:type="dcterms:W3CDTF">2026-08-30T16:47:32Z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2026-08-30T00:00:00Z</vt:filetime>
  </property>
  <property fmtid="{D5CDD505-2E9C-101B-9397-08002B2CF9AE}" pid="6" name="Producer">
    <vt:lpwstr>Canva</vt:lpwstr>
  </property>
</Properties>
</file>